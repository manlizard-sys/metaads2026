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Resumen" id="{f346f9f7-986e-3c62-bf5b-6d2ea2fec6e3}">
          <p14:sldIdLst>
            <p14:sldId id="256"/>
            <p14:sldId id="257"/>
          </p14:sldIdLst>
        </p14:section>
        <p14:section name="Resultados" id="{3d479de7-8898-77c8-64c6-d463d5d6b43c}">
          <p14:sldIdLst>
            <p14:sldId id="258"/>
            <p14:sldId id="259"/>
          </p14:sldIdLst>
        </p14:section>
        <p14:section name="Qué hicimos" id="{4f9b72b1-7f96-c33c-b135-10fd4ec9f026}">
          <p14:sldIdLst>
            <p14:sldId id="260"/>
            <p14:sldId id="261"/>
          </p14:sldIdLst>
        </p14:section>
        <p14:section name="Aprendizajes" id="{21803d57-8c52-9cbf-c15a-68b3850957e6}">
          <p14:sldIdLst>
            <p14:sldId id="262"/>
          </p14:sldIdLst>
        </p14:section>
        <p14:section name="Anuncios" id="{a7b91a82-eecc-9dba-687c-980c92f98b9a}">
          <p14:sldIdLst>
            <p14:sldId id="263"/>
            <p14:sldId id="264"/>
            <p14:sldId id="265"/>
          </p14:sldIdLst>
        </p14:section>
        <p14:section name="Próximos pasos" id="{aba67608-c7af-26a7-b45a-1b8975bcbba2}">
          <p14:sldIdLst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Clics al enlace</c:v>
                </c:pt>
              </c:strCache>
            </c:strRef>
          </c:tx>
          <c:spPr>
            <a:solidFill>
              <a:srgbClr val="3B1C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123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Semana 1 · 28 sep – 4 oct</c:v>
                  </c:pt>
                  <c:pt idx="1">
                    <c:v>Semana 2 · 5 – 11 oct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183</c:v>
                </c:pt>
                <c:pt idx="1">
                  <c:v>53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Visitas a la página</c:v>
                </c:pt>
              </c:strCache>
            </c:strRef>
          </c:tx>
          <c:spPr>
            <a:solidFill>
              <a:srgbClr val="8B6FD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123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Semana 1 · 28 sep – 4 oct</c:v>
                  </c:pt>
                  <c:pt idx="1">
                    <c:v>Semana 2 · 5 – 11 oct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145</c:v>
                </c:pt>
                <c:pt idx="1">
                  <c:v>38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F123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668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6B668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Leads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8463A"/>
              </a:solidFill>
              <a:effectLst/>
            </c:spPr>
          </c:dPt>
          <c:dPt>
            <c:idx val="1"/>
            <c:bubble3D val="0"/>
            <c:spPr>
              <a:solidFill>
                <a:srgbClr val="2E8B5E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6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6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Buscan trabajo</c:v>
                </c:pt>
                <c:pt idx="1">
                  <c:v>Quieren contratar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3</c:v>
                </c:pt>
                <c:pt idx="1">
                  <c:v>1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6B668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Informe de las dos primeras semanas de la campaña de Meta Ads de Orchid, con lo que se hizo, lo que aprendimos y las decisiones que necesitamos.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Mensaje principal: en dos semanas, un solo lead real. La causa está identificada y corregida el 12 de octubre.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 un gasto parecido, la semana 2 bajó de 183 a 53 clics y de 145 a 38 visitas a la página, y no trajo ningún lead que quisiera contratar.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Quien busca trabajo suele mentir en las demás preguntas del formulario; la única que lo delata es 'Hiring or job seeking'. Meta cuenta a todos como lead, por eso medimos con GHL.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11 de octubre se pausó el video V2, el único que trajo un cliente; no quedó registrado el motivo.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Además, el equipo simplificó el formulario de GHL el mismo día.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Advantage+ Audience también gastaba en personas de 18 a 34 años; ya está apagado.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capturas muestran cómo se ve cada anuncio en el feed del celular desde el 12 de octubre.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Ninguno de los dos trajo a alguien que quisiera contratar.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Ninguno trajo leads. S6 se pausó porque 'What does a Virtual Assistant do?' también le habla a quien busca ese trabajo.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próximo informe sale el lunes 19 de octubre con la semana del 12 al 18.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 estas tres respuestas podemos fijar metas claras para las próximas semanas.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TITL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80467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56032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Orchid · Informe Meta Ads · 29 sep – 11 oct 2026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CONTENT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Informe Meta Ads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56032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Del 29 de septiembre al 11 de octubre de 2026</a:t>
            </a:r>
            <a:endParaRPr lang="en-US" sz="1800" dirty="0"/>
          </a:p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Preparado para la dirección de Orchid · 12 de octubre de 2026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Dos semanas en tres números</a:t>
            </a:r>
            <a:endParaRPr lang="en-US" sz="3000" dirty="0"/>
          </a:p>
        </p:txBody>
      </p:sp>
      <p:sp>
        <p:nvSpPr>
          <p:cNvPr id="3" name="Stat card 1"/>
          <p:cNvSpPr/>
          <p:nvPr/>
        </p:nvSpPr>
        <p:spPr>
          <a:xfrm>
            <a:off x="457200" y="1143000"/>
            <a:ext cx="2615184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tat 1"/>
          <p:cNvSpPr txBox="1"/>
          <p:nvPr/>
        </p:nvSpPr>
        <p:spPr>
          <a:xfrm>
            <a:off x="685800" y="13258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$487.54</a:t>
            </a:r>
            <a:endParaRPr lang="en-US" sz="4400" dirty="0"/>
          </a:p>
        </p:txBody>
      </p:sp>
      <p:sp>
        <p:nvSpPr>
          <p:cNvPr id="5" name="Stat label 1"/>
          <p:cNvSpPr txBox="1"/>
          <p:nvPr/>
        </p:nvSpPr>
        <p:spPr>
          <a:xfrm>
            <a:off x="685800" y="22402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Inversión total en Meta</a:t>
            </a:r>
            <a:endParaRPr lang="en-US" sz="1500" dirty="0"/>
          </a:p>
        </p:txBody>
      </p:sp>
      <p:sp>
        <p:nvSpPr>
          <p:cNvPr id="6" name="Stat note 1"/>
          <p:cNvSpPr txBox="1"/>
          <p:nvPr/>
        </p:nvSpPr>
        <p:spPr>
          <a:xfrm>
            <a:off x="685800" y="25603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29 sep – 11 oct</a:t>
            </a:r>
            <a:endParaRPr lang="en-US" sz="1100" dirty="0"/>
          </a:p>
        </p:txBody>
      </p:sp>
      <p:sp>
        <p:nvSpPr>
          <p:cNvPr id="7" name="Stat card 2"/>
          <p:cNvSpPr/>
          <p:nvPr/>
        </p:nvSpPr>
        <p:spPr>
          <a:xfrm>
            <a:off x="3264408" y="1143000"/>
            <a:ext cx="2615184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Stat 2"/>
          <p:cNvSpPr txBox="1"/>
          <p:nvPr/>
        </p:nvSpPr>
        <p:spPr>
          <a:xfrm>
            <a:off x="3493008" y="13258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400" dirty="0"/>
          </a:p>
        </p:txBody>
      </p:sp>
      <p:sp>
        <p:nvSpPr>
          <p:cNvPr id="9" name="Stat label 2"/>
          <p:cNvSpPr txBox="1"/>
          <p:nvPr/>
        </p:nvSpPr>
        <p:spPr>
          <a:xfrm>
            <a:off x="3493008" y="22402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Lead que quiere contratar</a:t>
            </a:r>
            <a:endParaRPr lang="en-US" sz="1500" dirty="0"/>
          </a:p>
        </p:txBody>
      </p:sp>
      <p:sp>
        <p:nvSpPr>
          <p:cNvPr id="10" name="Stat note 2"/>
          <p:cNvSpPr txBox="1"/>
          <p:nvPr/>
        </p:nvSpPr>
        <p:spPr>
          <a:xfrm>
            <a:off x="3493008" y="25603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Llegó por el video V2 y agendó llamada</a:t>
            </a:r>
            <a:endParaRPr lang="en-US" sz="1100" dirty="0"/>
          </a:p>
        </p:txBody>
      </p:sp>
      <p:sp>
        <p:nvSpPr>
          <p:cNvPr id="11" name="Stat card 3"/>
          <p:cNvSpPr/>
          <p:nvPr/>
        </p:nvSpPr>
        <p:spPr>
          <a:xfrm>
            <a:off x="6071616" y="1143000"/>
            <a:ext cx="2615184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Stat 3"/>
          <p:cNvSpPr txBox="1"/>
          <p:nvPr/>
        </p:nvSpPr>
        <p:spPr>
          <a:xfrm>
            <a:off x="6300216" y="13258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$487.54</a:t>
            </a:r>
            <a:endParaRPr lang="en-US" sz="4400" dirty="0"/>
          </a:p>
        </p:txBody>
      </p:sp>
      <p:sp>
        <p:nvSpPr>
          <p:cNvPr id="13" name="Stat label 3"/>
          <p:cNvSpPr txBox="1"/>
          <p:nvPr/>
        </p:nvSpPr>
        <p:spPr>
          <a:xfrm>
            <a:off x="6300216" y="22402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Costo por lead calificado</a:t>
            </a:r>
            <a:endParaRPr lang="en-US" sz="1500" dirty="0"/>
          </a:p>
        </p:txBody>
      </p:sp>
      <p:sp>
        <p:nvSpPr>
          <p:cNvPr id="14" name="Stat note 3"/>
          <p:cNvSpPr txBox="1"/>
          <p:nvPr/>
        </p:nvSpPr>
        <p:spPr>
          <a:xfrm>
            <a:off x="6300216" y="25603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Inversión ÷ leads que quieren contratar</a:t>
            </a:r>
            <a:endParaRPr lang="en-US" sz="1100" dirty="0"/>
          </a:p>
        </p:txBody>
      </p:sp>
      <p:sp>
        <p:nvSpPr>
          <p:cNvPr id="15" name="Summary"/>
          <p:cNvSpPr txBox="1"/>
          <p:nvPr/>
        </p:nvSpPr>
        <p:spPr>
          <a:xfrm>
            <a:off x="457200" y="33832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La semana 1 funcionó porque el presupuesto fue al video V2.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En la semana 2, Meta movió el dinero a un anuncio estático (S3) que atrajo a personas que buscaban trabajo. El 12 de octubre corregimos la audiencia, los anuncios activos y los textos.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Semana 2: menos de un tercio de los clics</a:t>
            </a:r>
            <a:endParaRPr lang="en-US" sz="3000" dirty="0"/>
          </a:p>
        </p:txBody>
      </p:sp>
      <p:graphicFrame>
        <p:nvGraphicFramePr>
          <p:cNvPr id="3" name="Clicks chart" descr=""/>
          <p:cNvGraphicFramePr/>
          <p:nvPr/>
        </p:nvGraphicFramePr>
        <p:xfrm>
          <a:off x="365760" y="1051560"/>
          <a:ext cx="4206240" cy="3520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Wee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46320" y="1143000"/>
          <a:ext cx="38404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914400"/>
                <a:gridCol w="9144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3B1C7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Semana 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3B1C7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Semana 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3B1C7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Inversión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$211.04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$276.50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Costo por mil impresiones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$74.49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$115.40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que hace clic (CTR)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Leads según Meta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Quieren contratar (GHL)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2E8B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2E8B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Buscan trabajo (GHL)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C84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</a:tr>
            </a:tbl>
          </a:graphicData>
        </a:graphic>
      </p:graphicFrame>
      <p:sp>
        <p:nvSpPr>
          <p:cNvPr id="5" name="Week note"/>
          <p:cNvSpPr txBox="1"/>
          <p:nvPr/>
        </p:nvSpPr>
        <p:spPr>
          <a:xfrm>
            <a:off x="4846320" y="39776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La semana 1 tuvo 6 días con anuncios: la campaña arrancó el martes 29.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3 de cada 4 leads de anuncios buscaban trabajo</a:t>
            </a:r>
            <a:endParaRPr lang="en-US" sz="3000" dirty="0"/>
          </a:p>
        </p:txBody>
      </p:sp>
      <p:graphicFrame>
        <p:nvGraphicFramePr>
          <p:cNvPr id="3" name="Lead quality chart" descr=""/>
          <p:cNvGraphicFramePr/>
          <p:nvPr/>
        </p:nvGraphicFramePr>
        <p:xfrm>
          <a:off x="365760" y="1051560"/>
          <a:ext cx="320040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Lead row 1"/>
          <p:cNvSpPr/>
          <p:nvPr/>
        </p:nvSpPr>
        <p:spPr>
          <a:xfrm>
            <a:off x="3840480" y="1143000"/>
            <a:ext cx="4846320" cy="475488"/>
          </a:xfrm>
          <a:prstGeom prst="roundRect">
            <a:avLst>
              <a:gd name="adj" fmla="val 2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Lead date 1"/>
          <p:cNvSpPr txBox="1"/>
          <p:nvPr/>
        </p:nvSpPr>
        <p:spPr>
          <a:xfrm>
            <a:off x="3977640" y="1143000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4 oct</a:t>
            </a:r>
            <a:endParaRPr lang="en-US" sz="1200" dirty="0"/>
          </a:p>
        </p:txBody>
      </p:sp>
      <p:sp>
        <p:nvSpPr>
          <p:cNvPr id="6" name="Lead ad 1"/>
          <p:cNvSpPr txBox="1"/>
          <p:nvPr/>
        </p:nvSpPr>
        <p:spPr>
          <a:xfrm>
            <a:off x="4617720" y="1143000"/>
            <a:ext cx="2240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V2 Small Law Firm · video</a:t>
            </a:r>
            <a:endParaRPr lang="en-US" sz="1200" dirty="0"/>
          </a:p>
        </p:txBody>
      </p:sp>
      <p:sp>
        <p:nvSpPr>
          <p:cNvPr id="7" name="Lead result 1"/>
          <p:cNvSpPr txBox="1"/>
          <p:nvPr/>
        </p:nvSpPr>
        <p:spPr>
          <a:xfrm>
            <a:off x="6858000" y="1143000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Quiere contratar · agendó</a:t>
            </a:r>
            <a:endParaRPr lang="en-US" sz="1200" dirty="0"/>
          </a:p>
        </p:txBody>
      </p:sp>
      <p:sp>
        <p:nvSpPr>
          <p:cNvPr id="8" name="Lead row 2"/>
          <p:cNvSpPr/>
          <p:nvPr/>
        </p:nvSpPr>
        <p:spPr>
          <a:xfrm>
            <a:off x="3840480" y="1709928"/>
            <a:ext cx="4846320" cy="475488"/>
          </a:xfrm>
          <a:prstGeom prst="roundRect">
            <a:avLst>
              <a:gd name="adj" fmla="val 2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Lead date 2"/>
          <p:cNvSpPr txBox="1"/>
          <p:nvPr/>
        </p:nvSpPr>
        <p:spPr>
          <a:xfrm>
            <a:off x="3977640" y="1709928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5 oct</a:t>
            </a:r>
            <a:endParaRPr lang="en-US" sz="1200" dirty="0"/>
          </a:p>
        </p:txBody>
      </p:sp>
      <p:sp>
        <p:nvSpPr>
          <p:cNvPr id="10" name="Lead ad 2"/>
          <p:cNvSpPr txBox="1"/>
          <p:nvPr/>
        </p:nvSpPr>
        <p:spPr>
          <a:xfrm>
            <a:off x="4617720" y="1709928"/>
            <a:ext cx="2240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C2 Hey You Offer · carrusel</a:t>
            </a:r>
            <a:endParaRPr lang="en-US" sz="1200" dirty="0"/>
          </a:p>
        </p:txBody>
      </p:sp>
      <p:sp>
        <p:nvSpPr>
          <p:cNvPr id="11" name="Lead result 2"/>
          <p:cNvSpPr txBox="1"/>
          <p:nvPr/>
        </p:nvSpPr>
        <p:spPr>
          <a:xfrm>
            <a:off x="6858000" y="1709928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Busca trabajo</a:t>
            </a:r>
            <a:endParaRPr lang="en-US" sz="1200" dirty="0"/>
          </a:p>
        </p:txBody>
      </p:sp>
      <p:sp>
        <p:nvSpPr>
          <p:cNvPr id="12" name="Lead row 3"/>
          <p:cNvSpPr/>
          <p:nvPr/>
        </p:nvSpPr>
        <p:spPr>
          <a:xfrm>
            <a:off x="3840480" y="2276856"/>
            <a:ext cx="4846320" cy="475488"/>
          </a:xfrm>
          <a:prstGeom prst="roundRect">
            <a:avLst>
              <a:gd name="adj" fmla="val 2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Lead date 3"/>
          <p:cNvSpPr txBox="1"/>
          <p:nvPr/>
        </p:nvSpPr>
        <p:spPr>
          <a:xfrm>
            <a:off x="3977640" y="2276856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8 oct</a:t>
            </a:r>
            <a:endParaRPr lang="en-US" sz="1200" dirty="0"/>
          </a:p>
        </p:txBody>
      </p:sp>
      <p:sp>
        <p:nvSpPr>
          <p:cNvPr id="14" name="Lead ad 3"/>
          <p:cNvSpPr txBox="1"/>
          <p:nvPr/>
        </p:nvSpPr>
        <p:spPr>
          <a:xfrm>
            <a:off x="4617720" y="2276856"/>
            <a:ext cx="2240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S3 Vetting · estático</a:t>
            </a:r>
            <a:endParaRPr lang="en-US" sz="1200" dirty="0"/>
          </a:p>
        </p:txBody>
      </p:sp>
      <p:sp>
        <p:nvSpPr>
          <p:cNvPr id="15" name="Lead result 3"/>
          <p:cNvSpPr txBox="1"/>
          <p:nvPr/>
        </p:nvSpPr>
        <p:spPr>
          <a:xfrm>
            <a:off x="6858000" y="2276856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Busca trabajo</a:t>
            </a:r>
            <a:endParaRPr lang="en-US" sz="1200" dirty="0"/>
          </a:p>
        </p:txBody>
      </p:sp>
      <p:sp>
        <p:nvSpPr>
          <p:cNvPr id="16" name="Lead row 4"/>
          <p:cNvSpPr/>
          <p:nvPr/>
        </p:nvSpPr>
        <p:spPr>
          <a:xfrm>
            <a:off x="3840480" y="2843784"/>
            <a:ext cx="4846320" cy="475488"/>
          </a:xfrm>
          <a:prstGeom prst="roundRect">
            <a:avLst>
              <a:gd name="adj" fmla="val 2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Lead date 4"/>
          <p:cNvSpPr txBox="1"/>
          <p:nvPr/>
        </p:nvSpPr>
        <p:spPr>
          <a:xfrm>
            <a:off x="3977640" y="2843784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11 oct</a:t>
            </a:r>
            <a:endParaRPr lang="en-US" sz="1200" dirty="0"/>
          </a:p>
        </p:txBody>
      </p:sp>
      <p:sp>
        <p:nvSpPr>
          <p:cNvPr id="18" name="Lead ad 4"/>
          <p:cNvSpPr txBox="1"/>
          <p:nvPr/>
        </p:nvSpPr>
        <p:spPr>
          <a:xfrm>
            <a:off x="4617720" y="2843784"/>
            <a:ext cx="2240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S3 Vetting · estático</a:t>
            </a:r>
            <a:endParaRPr lang="en-US" sz="1200" dirty="0"/>
          </a:p>
        </p:txBody>
      </p:sp>
      <p:sp>
        <p:nvSpPr>
          <p:cNvPr id="19" name="Lead result 4"/>
          <p:cNvSpPr txBox="1"/>
          <p:nvPr/>
        </p:nvSpPr>
        <p:spPr>
          <a:xfrm>
            <a:off x="6858000" y="2843784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Busca trabajo</a:t>
            </a:r>
            <a:endParaRPr lang="en-US" sz="1200" dirty="0"/>
          </a:p>
        </p:txBody>
      </p:sp>
      <p:sp>
        <p:nvSpPr>
          <p:cNvPr id="20" name="Unattributed note"/>
          <p:cNvSpPr txBox="1"/>
          <p:nvPr/>
        </p:nvSpPr>
        <p:spPr>
          <a:xfrm>
            <a:off x="3840480" y="352044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Por confirmar: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la noche del 11 de octubre entraron 3 contactos que quieren contratar y agendaron, pero GHL no registra que vinieran de un anuncio.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Qué pasó en la cuenta, día por día</a:t>
            </a:r>
            <a:endParaRPr lang="en-US" sz="3000" dirty="0"/>
          </a:p>
        </p:txBody>
      </p:sp>
      <p:sp>
        <p:nvSpPr>
          <p:cNvPr id="3" name="Timeline line"/>
          <p:cNvSpPr/>
          <p:nvPr/>
        </p:nvSpPr>
        <p:spPr>
          <a:xfrm>
            <a:off x="822960" y="1700784"/>
            <a:ext cx="7498080" cy="0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solid"/>
          </a:ln>
        </p:spPr>
      </p:sp>
      <p:sp>
        <p:nvSpPr>
          <p:cNvPr id="4" name="Timeline dot 1"/>
          <p:cNvSpPr/>
          <p:nvPr/>
        </p:nvSpPr>
        <p:spPr>
          <a:xfrm>
            <a:off x="630936" y="150876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imeline dot 1 label"/>
          <p:cNvSpPr txBox="1"/>
          <p:nvPr/>
        </p:nvSpPr>
        <p:spPr>
          <a:xfrm>
            <a:off x="630936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imeline date 1"/>
          <p:cNvSpPr txBox="1"/>
          <p:nvPr/>
        </p:nvSpPr>
        <p:spPr>
          <a:xfrm>
            <a:off x="457200" y="2057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29 sep</a:t>
            </a:r>
            <a:endParaRPr lang="en-US" sz="1300" dirty="0"/>
          </a:p>
        </p:txBody>
      </p:sp>
      <p:sp>
        <p:nvSpPr>
          <p:cNvPr id="7" name="Timeline head 1"/>
          <p:cNvSpPr txBox="1"/>
          <p:nvPr/>
        </p:nvSpPr>
        <p:spPr>
          <a:xfrm>
            <a:off x="457200" y="23774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Lanzamiento</a:t>
            </a:r>
            <a:endParaRPr lang="en-US" sz="1700" dirty="0"/>
          </a:p>
        </p:txBody>
      </p:sp>
      <p:sp>
        <p:nvSpPr>
          <p:cNvPr id="8" name="Timeline body 1"/>
          <p:cNvSpPr txBox="1"/>
          <p:nvPr/>
        </p:nvSpPr>
        <p:spPr>
          <a:xfrm>
            <a:off x="457200" y="2788920"/>
            <a:ext cx="1874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4 videos y 2 carruseles hacia go.orchidpros.com/hire.</a:t>
            </a:r>
            <a:endParaRPr lang="en-US" sz="1300" dirty="0"/>
          </a:p>
        </p:txBody>
      </p:sp>
      <p:sp>
        <p:nvSpPr>
          <p:cNvPr id="9" name="Timeline dot 2"/>
          <p:cNvSpPr/>
          <p:nvPr/>
        </p:nvSpPr>
        <p:spPr>
          <a:xfrm>
            <a:off x="2734056" y="150876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imeline dot 2 label"/>
          <p:cNvSpPr txBox="1"/>
          <p:nvPr/>
        </p:nvSpPr>
        <p:spPr>
          <a:xfrm>
            <a:off x="2734056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imeline date 2"/>
          <p:cNvSpPr txBox="1"/>
          <p:nvPr/>
        </p:nvSpPr>
        <p:spPr>
          <a:xfrm>
            <a:off x="2560320" y="2057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1 oct</a:t>
            </a:r>
            <a:endParaRPr lang="en-US" sz="1300" dirty="0"/>
          </a:p>
        </p:txBody>
      </p:sp>
      <p:sp>
        <p:nvSpPr>
          <p:cNvPr id="12" name="Timeline head 2"/>
          <p:cNvSpPr txBox="1"/>
          <p:nvPr/>
        </p:nvSpPr>
        <p:spPr>
          <a:xfrm>
            <a:off x="2560320" y="23774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Más variedad</a:t>
            </a:r>
            <a:endParaRPr lang="en-US" sz="1700" dirty="0"/>
          </a:p>
        </p:txBody>
      </p:sp>
      <p:sp>
        <p:nvSpPr>
          <p:cNvPr id="13" name="Timeline body 2"/>
          <p:cNvSpPr txBox="1"/>
          <p:nvPr/>
        </p:nvSpPr>
        <p:spPr>
          <a:xfrm>
            <a:off x="2560320" y="2788920"/>
            <a:ext cx="1874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Se suman 8 anuncios estáticos (S1–S8).</a:t>
            </a:r>
            <a:endParaRPr lang="en-US" sz="1300" dirty="0"/>
          </a:p>
        </p:txBody>
      </p:sp>
      <p:sp>
        <p:nvSpPr>
          <p:cNvPr id="14" name="Timeline dot 3"/>
          <p:cNvSpPr/>
          <p:nvPr/>
        </p:nvSpPr>
        <p:spPr>
          <a:xfrm>
            <a:off x="4837176" y="150876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5" name="Timeline dot 3 label"/>
          <p:cNvSpPr txBox="1"/>
          <p:nvPr/>
        </p:nvSpPr>
        <p:spPr>
          <a:xfrm>
            <a:off x="4837176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imeline date 3"/>
          <p:cNvSpPr txBox="1"/>
          <p:nvPr/>
        </p:nvSpPr>
        <p:spPr>
          <a:xfrm>
            <a:off x="4663440" y="2057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11 oct</a:t>
            </a:r>
            <a:endParaRPr lang="en-US" sz="1300" dirty="0"/>
          </a:p>
        </p:txBody>
      </p:sp>
      <p:sp>
        <p:nvSpPr>
          <p:cNvPr id="17" name="Timeline head 3"/>
          <p:cNvSpPr txBox="1"/>
          <p:nvPr/>
        </p:nvSpPr>
        <p:spPr>
          <a:xfrm>
            <a:off x="4663440" y="23774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Cambio manual</a:t>
            </a:r>
            <a:endParaRPr lang="en-US" sz="1700" dirty="0"/>
          </a:p>
        </p:txBody>
      </p:sp>
      <p:sp>
        <p:nvSpPr>
          <p:cNvPr id="18" name="Timeline body 3"/>
          <p:cNvSpPr txBox="1"/>
          <p:nvPr/>
        </p:nvSpPr>
        <p:spPr>
          <a:xfrm>
            <a:off x="4663440" y="2788920"/>
            <a:ext cx="1874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El equipo pausa los videos y deja solo 3 estáticos activos.</a:t>
            </a:r>
            <a:endParaRPr lang="en-US" sz="1300" dirty="0"/>
          </a:p>
        </p:txBody>
      </p:sp>
      <p:sp>
        <p:nvSpPr>
          <p:cNvPr id="19" name="Timeline dot 4"/>
          <p:cNvSpPr/>
          <p:nvPr/>
        </p:nvSpPr>
        <p:spPr>
          <a:xfrm>
            <a:off x="6940296" y="15087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imeline dot 4 label"/>
          <p:cNvSpPr txBox="1"/>
          <p:nvPr/>
        </p:nvSpPr>
        <p:spPr>
          <a:xfrm>
            <a:off x="6940296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4</a:t>
            </a:r>
            <a:endParaRPr lang="en-US" sz="1400" dirty="0"/>
          </a:p>
        </p:txBody>
      </p:sp>
      <p:sp>
        <p:nvSpPr>
          <p:cNvPr id="21" name="Timeline date 4"/>
          <p:cNvSpPr txBox="1"/>
          <p:nvPr/>
        </p:nvSpPr>
        <p:spPr>
          <a:xfrm>
            <a:off x="6766560" y="2057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12 oct</a:t>
            </a:r>
            <a:endParaRPr lang="en-US" sz="1300" dirty="0"/>
          </a:p>
        </p:txBody>
      </p:sp>
      <p:sp>
        <p:nvSpPr>
          <p:cNvPr id="22" name="Timeline head 4"/>
          <p:cNvSpPr txBox="1"/>
          <p:nvPr/>
        </p:nvSpPr>
        <p:spPr>
          <a:xfrm>
            <a:off x="6766560" y="23774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Correcciones</a:t>
            </a:r>
            <a:endParaRPr lang="en-US" sz="1700" dirty="0"/>
          </a:p>
        </p:txBody>
      </p:sp>
      <p:sp>
        <p:nvSpPr>
          <p:cNvPr id="23" name="Timeline body 4"/>
          <p:cNvSpPr txBox="1"/>
          <p:nvPr/>
        </p:nvSpPr>
        <p:spPr>
          <a:xfrm>
            <a:off x="6766560" y="2788920"/>
            <a:ext cx="1874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Medimos con GHL y corregimos audiencia, anuncios y textos.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Las correcciones del 12 de octubre</a:t>
            </a:r>
            <a:endParaRPr lang="en-US" sz="3000" dirty="0"/>
          </a:p>
        </p:txBody>
      </p:sp>
      <p:sp>
        <p:nvSpPr>
          <p:cNvPr id="3" name="Fix card 1"/>
          <p:cNvSpPr/>
          <p:nvPr/>
        </p:nvSpPr>
        <p:spPr>
          <a:xfrm>
            <a:off x="457200" y="1097280"/>
            <a:ext cx="2615184" cy="3063240"/>
          </a:xfrm>
          <a:prstGeom prst="roundRect">
            <a:avLst>
              <a:gd name="adj" fmla="val 41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Fix dot 1"/>
          <p:cNvSpPr/>
          <p:nvPr/>
        </p:nvSpPr>
        <p:spPr>
          <a:xfrm>
            <a:off x="685800" y="12801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Fix dot 1 label"/>
          <p:cNvSpPr txBox="1"/>
          <p:nvPr/>
        </p:nvSpPr>
        <p:spPr>
          <a:xfrm>
            <a:off x="68580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Fix head 1"/>
          <p:cNvSpPr txBox="1"/>
          <p:nvPr/>
        </p:nvSpPr>
        <p:spPr>
          <a:xfrm>
            <a:off x="1188720" y="128016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Audiencia</a:t>
            </a:r>
            <a:endParaRPr lang="en-US" sz="1800" dirty="0"/>
          </a:p>
        </p:txBody>
      </p:sp>
      <p:sp>
        <p:nvSpPr>
          <p:cNvPr id="7" name="Fix body 1"/>
          <p:cNvSpPr txBox="1"/>
          <p:nvPr/>
        </p:nvSpPr>
        <p:spPr>
          <a:xfrm>
            <a:off x="685800" y="1828800"/>
            <a:ext cx="22402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Apagamos Advantage+ Audience: Meta estaba llegando a personas de 18–34 años.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Edad fija de 30 a 65 años.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Solo personas que viven en EE. UU.</a:t>
            </a:r>
            <a:endParaRPr lang="en-US" sz="1300" dirty="0"/>
          </a:p>
        </p:txBody>
      </p:sp>
      <p:sp>
        <p:nvSpPr>
          <p:cNvPr id="8" name="Fix card 2"/>
          <p:cNvSpPr/>
          <p:nvPr/>
        </p:nvSpPr>
        <p:spPr>
          <a:xfrm>
            <a:off x="3264408" y="1097280"/>
            <a:ext cx="2615184" cy="3063240"/>
          </a:xfrm>
          <a:prstGeom prst="roundRect">
            <a:avLst>
              <a:gd name="adj" fmla="val 41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Fix dot 2"/>
          <p:cNvSpPr/>
          <p:nvPr/>
        </p:nvSpPr>
        <p:spPr>
          <a:xfrm>
            <a:off x="3493008" y="12801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Fix dot 2 label"/>
          <p:cNvSpPr txBox="1"/>
          <p:nvPr/>
        </p:nvSpPr>
        <p:spPr>
          <a:xfrm>
            <a:off x="3493008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Fix head 2"/>
          <p:cNvSpPr txBox="1"/>
          <p:nvPr/>
        </p:nvSpPr>
        <p:spPr>
          <a:xfrm>
            <a:off x="3995928" y="128016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Anuncios</a:t>
            </a:r>
            <a:endParaRPr lang="en-US" sz="1800" dirty="0"/>
          </a:p>
        </p:txBody>
      </p:sp>
      <p:sp>
        <p:nvSpPr>
          <p:cNvPr id="12" name="Fix body 2"/>
          <p:cNvSpPr txBox="1"/>
          <p:nvPr/>
        </p:nvSpPr>
        <p:spPr>
          <a:xfrm>
            <a:off x="3493008" y="1828800"/>
            <a:ext cx="22402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Reactivamos V2, el único que trajo un cliente real.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Reactivamos V1, el de mejor tasa de clics.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Pausamos S1 y S6; S8 sigue activo.</a:t>
            </a:r>
            <a:endParaRPr lang="en-US" sz="1300" dirty="0"/>
          </a:p>
        </p:txBody>
      </p:sp>
      <p:sp>
        <p:nvSpPr>
          <p:cNvPr id="13" name="Fix card 3"/>
          <p:cNvSpPr/>
          <p:nvPr/>
        </p:nvSpPr>
        <p:spPr>
          <a:xfrm>
            <a:off x="6071616" y="1097280"/>
            <a:ext cx="2615184" cy="3063240"/>
          </a:xfrm>
          <a:prstGeom prst="roundRect">
            <a:avLst>
              <a:gd name="adj" fmla="val 41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Fix dot 3"/>
          <p:cNvSpPr/>
          <p:nvPr/>
        </p:nvSpPr>
        <p:spPr>
          <a:xfrm>
            <a:off x="6300216" y="12801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Fix dot 3 label"/>
          <p:cNvSpPr txBox="1"/>
          <p:nvPr/>
        </p:nvSpPr>
        <p:spPr>
          <a:xfrm>
            <a:off x="6300216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Fix head 3"/>
          <p:cNvSpPr txBox="1"/>
          <p:nvPr/>
        </p:nvSpPr>
        <p:spPr>
          <a:xfrm>
            <a:off x="6803136" y="128016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Textos</a:t>
            </a:r>
            <a:endParaRPr lang="en-US" sz="1800" dirty="0"/>
          </a:p>
        </p:txBody>
      </p:sp>
      <p:sp>
        <p:nvSpPr>
          <p:cNvPr id="17" name="Fix body 3"/>
          <p:cNvSpPr txBox="1"/>
          <p:nvPr/>
        </p:nvSpPr>
        <p:spPr>
          <a:xfrm>
            <a:off x="6300216" y="1828800"/>
            <a:ext cx="22402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La primera línea le habla a quien contrata: "Law firm owners:", "Business owners:".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Precio visible: desde $1,000/mes.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Sin palabras de empleo.</a:t>
            </a:r>
            <a:endParaRPr lang="en-US" sz="1300" dirty="0"/>
          </a:p>
        </p:txBody>
      </p:sp>
      <p:sp>
        <p:nvSpPr>
          <p:cNvPr id="18" name="Exclusions note"/>
          <p:cNvSpPr txBox="1"/>
          <p:nvPr/>
        </p:nvSpPr>
        <p:spPr>
          <a:xfrm>
            <a:off x="457200" y="4297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También intentamos excluir intereses de empleo (Indeed, Job hunting): Meta ya no lo permite.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Qué aprendimos</a:t>
            </a:r>
            <a:endParaRPr lang="en-US" sz="3000" dirty="0"/>
          </a:p>
        </p:txBody>
      </p:sp>
      <p:sp>
        <p:nvSpPr>
          <p:cNvPr id="3" name="Learning dot 1"/>
          <p:cNvSpPr/>
          <p:nvPr/>
        </p:nvSpPr>
        <p:spPr>
          <a:xfrm>
            <a:off x="457200" y="10972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Learning dot 1 label"/>
          <p:cNvSpPr txBox="1"/>
          <p:nvPr/>
        </p:nvSpPr>
        <p:spPr>
          <a:xfrm>
            <a:off x="457200" y="1097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Learning head 1"/>
          <p:cNvSpPr txBox="1"/>
          <p:nvPr/>
        </p:nvSpPr>
        <p:spPr>
          <a:xfrm>
            <a:off x="1051560" y="1051560"/>
            <a:ext cx="7635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El video para abogados (V2) es el único anuncio que trajo un cliente real.</a:t>
            </a:r>
            <a:endParaRPr lang="en-US" sz="1600" dirty="0"/>
          </a:p>
        </p:txBody>
      </p:sp>
      <p:sp>
        <p:nvSpPr>
          <p:cNvPr id="6" name="Learning body 1"/>
          <p:cNvSpPr txBox="1"/>
          <p:nvPr/>
        </p:nvSpPr>
        <p:spPr>
          <a:xfrm>
            <a:off x="1051560" y="1435608"/>
            <a:ext cx="7635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Recibió el 82% del presupuesto en la semana 1 y solo el 21% en la semana 2.</a:t>
            </a:r>
            <a:endParaRPr lang="en-US" sz="1300" dirty="0"/>
          </a:p>
        </p:txBody>
      </p:sp>
      <p:sp>
        <p:nvSpPr>
          <p:cNvPr id="7" name="Learning dot 2"/>
          <p:cNvSpPr/>
          <p:nvPr/>
        </p:nvSpPr>
        <p:spPr>
          <a:xfrm>
            <a:off x="457200" y="1993392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Learning dot 2 label"/>
          <p:cNvSpPr txBox="1"/>
          <p:nvPr/>
        </p:nvSpPr>
        <p:spPr>
          <a:xfrm>
            <a:off x="457200" y="1993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Learning head 2"/>
          <p:cNvSpPr txBox="1"/>
          <p:nvPr/>
        </p:nvSpPr>
        <p:spPr>
          <a:xfrm>
            <a:off x="1051560" y="1947672"/>
            <a:ext cx="7635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El estático S3 atrajo a quien busca trabajo.</a:t>
            </a:r>
            <a:endParaRPr lang="en-US" sz="1600" dirty="0"/>
          </a:p>
        </p:txBody>
      </p:sp>
      <p:sp>
        <p:nvSpPr>
          <p:cNvPr id="10" name="Learning body 2"/>
          <p:cNvSpPr txBox="1"/>
          <p:nvPr/>
        </p:nvSpPr>
        <p:spPr>
          <a:xfrm>
            <a:off x="1051560" y="2331720"/>
            <a:ext cx="7635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Gastó $207.45 en la semana 2, con CTR de 1.6%; sus 2 leads buscaban empleo.</a:t>
            </a:r>
            <a:endParaRPr lang="en-US" sz="1300" dirty="0"/>
          </a:p>
        </p:txBody>
      </p:sp>
      <p:sp>
        <p:nvSpPr>
          <p:cNvPr id="11" name="Learning dot 3"/>
          <p:cNvSpPr/>
          <p:nvPr/>
        </p:nvSpPr>
        <p:spPr>
          <a:xfrm>
            <a:off x="457200" y="2889504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Learning dot 3 label"/>
          <p:cNvSpPr txBox="1"/>
          <p:nvPr/>
        </p:nvSpPr>
        <p:spPr>
          <a:xfrm>
            <a:off x="457200" y="28895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Learning head 3"/>
          <p:cNvSpPr txBox="1"/>
          <p:nvPr/>
        </p:nvSpPr>
        <p:spPr>
          <a:xfrm>
            <a:off x="1051560" y="2843784"/>
            <a:ext cx="7635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El "lead" que reporta Meta no mide el éxito.</a:t>
            </a:r>
            <a:endParaRPr lang="en-US" sz="1600" dirty="0"/>
          </a:p>
        </p:txBody>
      </p:sp>
      <p:sp>
        <p:nvSpPr>
          <p:cNvPr id="14" name="Learning body 3"/>
          <p:cNvSpPr txBox="1"/>
          <p:nvPr/>
        </p:nvSpPr>
        <p:spPr>
          <a:xfrm>
            <a:off x="1051560" y="3227832"/>
            <a:ext cx="7635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Desde ahora medimos con GHL: leads que quieren contratar y su costo.</a:t>
            </a:r>
            <a:endParaRPr lang="en-US" sz="1300" dirty="0"/>
          </a:p>
        </p:txBody>
      </p:sp>
      <p:sp>
        <p:nvSpPr>
          <p:cNvPr id="15" name="Learning dot 4"/>
          <p:cNvSpPr/>
          <p:nvPr/>
        </p:nvSpPr>
        <p:spPr>
          <a:xfrm>
            <a:off x="457200" y="3785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Learning dot 4 label"/>
          <p:cNvSpPr txBox="1"/>
          <p:nvPr/>
        </p:nvSpPr>
        <p:spPr>
          <a:xfrm>
            <a:off x="457200" y="3785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Learning head 4"/>
          <p:cNvSpPr txBox="1"/>
          <p:nvPr/>
        </p:nvSpPr>
        <p:spPr>
          <a:xfrm>
            <a:off x="1051560" y="3739896"/>
            <a:ext cx="7635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V1 y V4 tienen las mejores tasas de clic (23–29%), pero casi no recibieron presupuesto.</a:t>
            </a:r>
            <a:endParaRPr lang="en-US" sz="1600" dirty="0"/>
          </a:p>
        </p:txBody>
      </p:sp>
      <p:sp>
        <p:nvSpPr>
          <p:cNvPr id="18" name="Learning body 4"/>
          <p:cNvSpPr txBox="1"/>
          <p:nvPr/>
        </p:nvSpPr>
        <p:spPr>
          <a:xfrm>
            <a:off x="1051560" y="4123944"/>
            <a:ext cx="7635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Todavía no sabemos si traen clientes; V1 vuelve a estar activo para probarlo.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Los 3 anuncios activos, con el texto nuevo</a:t>
            </a:r>
            <a:endParaRPr lang="en-US" sz="3000" dirty="0"/>
          </a:p>
        </p:txBody>
      </p:sp>
      <p:pic>
        <p:nvPicPr>
          <p:cNvPr id="3" name="Capture V2 Small Law Firm · video" descr="Capture V2 Small Law Firm · vide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1367977" cy="269748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F1235">
                <a:alpha val="18000"/>
              </a:srgbClr>
            </a:outerShdw>
          </a:effectLst>
        </p:spPr>
      </p:pic>
      <p:sp>
        <p:nvSpPr>
          <p:cNvPr id="4" name="Active name 1"/>
          <p:cNvSpPr txBox="1"/>
          <p:nvPr/>
        </p:nvSpPr>
        <p:spPr>
          <a:xfrm>
            <a:off x="1962337" y="1097280"/>
            <a:ext cx="111004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V2 Small Law Firm · video</a:t>
            </a:r>
            <a:endParaRPr lang="en-US" sz="1300" dirty="0"/>
          </a:p>
        </p:txBody>
      </p:sp>
      <p:sp>
        <p:nvSpPr>
          <p:cNvPr id="5" name="Active nums 1"/>
          <p:cNvSpPr txBox="1"/>
          <p:nvPr/>
        </p:nvSpPr>
        <p:spPr>
          <a:xfrm>
            <a:off x="1962337" y="1783080"/>
            <a:ext cx="111004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$230.30 · 133 clics</a:t>
            </a:r>
            <a:endParaRPr lang="en-US" sz="1200" dirty="0"/>
          </a:p>
        </p:txBody>
      </p:sp>
      <p:sp>
        <p:nvSpPr>
          <p:cNvPr id="6" name="Active result 1"/>
          <p:cNvSpPr txBox="1"/>
          <p:nvPr/>
        </p:nvSpPr>
        <p:spPr>
          <a:xfrm>
            <a:off x="1962337" y="2331720"/>
            <a:ext cx="111004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1 quiere contratar (agendó)</a:t>
            </a:r>
            <a:endParaRPr lang="en-US" sz="1200" dirty="0"/>
          </a:p>
        </p:txBody>
      </p:sp>
      <p:pic>
        <p:nvPicPr>
          <p:cNvPr id="7" name="Capture V1 POV Email · video" descr="Capture V1 POV Email · vide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4408" y="1051560"/>
            <a:ext cx="1575171" cy="269748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F1235">
                <a:alpha val="18000"/>
              </a:srgbClr>
            </a:outerShdw>
          </a:effectLst>
        </p:spPr>
      </p:pic>
      <p:sp>
        <p:nvSpPr>
          <p:cNvPr id="8" name="Active name 2"/>
          <p:cNvSpPr txBox="1"/>
          <p:nvPr/>
        </p:nvSpPr>
        <p:spPr>
          <a:xfrm>
            <a:off x="4976739" y="1097280"/>
            <a:ext cx="90285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V1 POV Email · video</a:t>
            </a:r>
            <a:endParaRPr lang="en-US" sz="1300" dirty="0"/>
          </a:p>
        </p:txBody>
      </p:sp>
      <p:sp>
        <p:nvSpPr>
          <p:cNvPr id="9" name="Active nums 2"/>
          <p:cNvSpPr txBox="1"/>
          <p:nvPr/>
        </p:nvSpPr>
        <p:spPr>
          <a:xfrm>
            <a:off x="4976739" y="1783080"/>
            <a:ext cx="90285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$3.05 · 34 clics</a:t>
            </a:r>
            <a:endParaRPr lang="en-US" sz="1200" dirty="0"/>
          </a:p>
        </p:txBody>
      </p:sp>
      <p:sp>
        <p:nvSpPr>
          <p:cNvPr id="10" name="Active result 2"/>
          <p:cNvSpPr txBox="1"/>
          <p:nvPr/>
        </p:nvSpPr>
        <p:spPr>
          <a:xfrm>
            <a:off x="4976739" y="2331720"/>
            <a:ext cx="90285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Sin leads aún; a prueba</a:t>
            </a:r>
            <a:endParaRPr lang="en-US" sz="1200" dirty="0"/>
          </a:p>
        </p:txBody>
      </p:sp>
      <p:pic>
        <p:nvPicPr>
          <p:cNvPr id="11" name="Capture S8 Comparison · estático" descr="Capture S8 Comparison · estátic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71616" y="1051560"/>
            <a:ext cx="1367977" cy="269748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F1235">
                <a:alpha val="18000"/>
              </a:srgbClr>
            </a:outerShdw>
          </a:effectLst>
        </p:spPr>
      </p:pic>
      <p:sp>
        <p:nvSpPr>
          <p:cNvPr id="12" name="Active name 3"/>
          <p:cNvSpPr txBox="1"/>
          <p:nvPr/>
        </p:nvSpPr>
        <p:spPr>
          <a:xfrm>
            <a:off x="7576753" y="1097280"/>
            <a:ext cx="111004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S8 Comparison · estático</a:t>
            </a:r>
            <a:endParaRPr lang="en-US" sz="1300" dirty="0"/>
          </a:p>
        </p:txBody>
      </p:sp>
      <p:sp>
        <p:nvSpPr>
          <p:cNvPr id="13" name="Active nums 3"/>
          <p:cNvSpPr txBox="1"/>
          <p:nvPr/>
        </p:nvSpPr>
        <p:spPr>
          <a:xfrm>
            <a:off x="7576753" y="1783080"/>
            <a:ext cx="111004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$2.62 · 1 clic</a:t>
            </a:r>
            <a:endParaRPr lang="en-US" sz="1200" dirty="0"/>
          </a:p>
        </p:txBody>
      </p:sp>
      <p:sp>
        <p:nvSpPr>
          <p:cNvPr id="14" name="Active result 3"/>
          <p:cNvSpPr txBox="1"/>
          <p:nvPr/>
        </p:nvSpPr>
        <p:spPr>
          <a:xfrm>
            <a:off x="7576753" y="2331720"/>
            <a:ext cx="111004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Sin leads aún</a:t>
            </a:r>
            <a:endParaRPr lang="en-US" sz="1200" dirty="0"/>
          </a:p>
        </p:txBody>
      </p:sp>
      <p:sp>
        <p:nvSpPr>
          <p:cNvPr id="15" name="Active note"/>
          <p:cNvSpPr txBox="1"/>
          <p:nvPr/>
        </p:nvSpPr>
        <p:spPr>
          <a:xfrm>
            <a:off x="457200" y="3931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Cifras acumuladas del 29 sep al 11 oct. En los videos se ve la portada.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Los que trajeron buscadores de empleo</a:t>
            </a:r>
            <a:endParaRPr lang="en-US" sz="3000" dirty="0"/>
          </a:p>
        </p:txBody>
      </p:sp>
      <p:pic>
        <p:nvPicPr>
          <p:cNvPr id="3" name="Capture S3 Vetting · estático" descr="Capture S3 Vetting · estátic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1618109" cy="329184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F1235">
                <a:alpha val="18000"/>
              </a:srgbClr>
            </a:outerShdw>
          </a:effectLst>
        </p:spPr>
      </p:pic>
      <p:sp>
        <p:nvSpPr>
          <p:cNvPr id="4" name="Bad name 1"/>
          <p:cNvSpPr txBox="1"/>
          <p:nvPr/>
        </p:nvSpPr>
        <p:spPr>
          <a:xfrm>
            <a:off x="2258189" y="1143000"/>
            <a:ext cx="222237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S3 Vetting · estático</a:t>
            </a:r>
            <a:endParaRPr lang="en-US" sz="1500" dirty="0"/>
          </a:p>
        </p:txBody>
      </p:sp>
      <p:sp>
        <p:nvSpPr>
          <p:cNvPr id="5" name="Bad nums 1"/>
          <p:cNvSpPr txBox="1"/>
          <p:nvPr/>
        </p:nvSpPr>
        <p:spPr>
          <a:xfrm>
            <a:off x="2258189" y="1554480"/>
            <a:ext cx="22223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$220.20 · 35 clics · CTR 1.6%</a:t>
            </a:r>
            <a:endParaRPr lang="en-US" sz="1200" dirty="0"/>
          </a:p>
        </p:txBody>
      </p:sp>
      <p:sp>
        <p:nvSpPr>
          <p:cNvPr id="6" name="Bad result 1"/>
          <p:cNvSpPr txBox="1"/>
          <p:nvPr/>
        </p:nvSpPr>
        <p:spPr>
          <a:xfrm>
            <a:off x="2258189" y="2057400"/>
            <a:ext cx="222237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2 buscan trabajo</a:t>
            </a:r>
            <a:endParaRPr lang="en-US" sz="1300" dirty="0"/>
          </a:p>
        </p:txBody>
      </p:sp>
      <p:sp>
        <p:nvSpPr>
          <p:cNvPr id="7" name="Bad why 1"/>
          <p:cNvSpPr txBox="1"/>
          <p:nvPr/>
        </p:nvSpPr>
        <p:spPr>
          <a:xfrm>
            <a:off x="2258189" y="2423160"/>
            <a:ext cx="2222371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Se llevó el 75% del presupuesto de la semana 2.</a:t>
            </a:r>
            <a:endParaRPr lang="en-US" sz="1200" dirty="0"/>
          </a:p>
        </p:txBody>
      </p:sp>
      <p:sp>
        <p:nvSpPr>
          <p:cNvPr id="8" name="Bad status 1"/>
          <p:cNvSpPr txBox="1"/>
          <p:nvPr/>
        </p:nvSpPr>
        <p:spPr>
          <a:xfrm>
            <a:off x="2258189" y="3291840"/>
            <a:ext cx="22223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Pausado</a:t>
            </a:r>
            <a:endParaRPr lang="en-US" sz="1100" dirty="0"/>
          </a:p>
        </p:txBody>
      </p:sp>
      <p:pic>
        <p:nvPicPr>
          <p:cNvPr id="9" name="Capture C2 Hey You Offer · carrusel" descr="Capture C2 Hey You Offer · carrus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051560"/>
            <a:ext cx="1844814" cy="329184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F1235">
                <a:alpha val="18000"/>
              </a:srgbClr>
            </a:outerShdw>
          </a:effectLst>
        </p:spPr>
      </p:pic>
      <p:sp>
        <p:nvSpPr>
          <p:cNvPr id="10" name="Bad name 2"/>
          <p:cNvSpPr txBox="1"/>
          <p:nvPr/>
        </p:nvSpPr>
        <p:spPr>
          <a:xfrm>
            <a:off x="6691134" y="1143000"/>
            <a:ext cx="19956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C2 Hey You Offer · carrusel</a:t>
            </a:r>
            <a:endParaRPr lang="en-US" sz="1500" dirty="0"/>
          </a:p>
        </p:txBody>
      </p:sp>
      <p:sp>
        <p:nvSpPr>
          <p:cNvPr id="11" name="Bad nums 2"/>
          <p:cNvSpPr txBox="1"/>
          <p:nvPr/>
        </p:nvSpPr>
        <p:spPr>
          <a:xfrm>
            <a:off x="6691134" y="1554480"/>
            <a:ext cx="19956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$11.19 · 12 clics</a:t>
            </a:r>
            <a:endParaRPr lang="en-US" sz="1200" dirty="0"/>
          </a:p>
        </p:txBody>
      </p:sp>
      <p:sp>
        <p:nvSpPr>
          <p:cNvPr id="12" name="Bad result 2"/>
          <p:cNvSpPr txBox="1"/>
          <p:nvPr/>
        </p:nvSpPr>
        <p:spPr>
          <a:xfrm>
            <a:off x="6691134" y="2057400"/>
            <a:ext cx="199566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1 busca trabajo</a:t>
            </a:r>
            <a:endParaRPr lang="en-US" sz="1300" dirty="0"/>
          </a:p>
        </p:txBody>
      </p:sp>
      <p:sp>
        <p:nvSpPr>
          <p:cNvPr id="13" name="Bad why 2"/>
          <p:cNvSpPr txBox="1"/>
          <p:nvPr/>
        </p:nvSpPr>
        <p:spPr>
          <a:xfrm>
            <a:off x="6691134" y="2423160"/>
            <a:ext cx="199566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Promete un "regalo" que atrae curiosos.</a:t>
            </a:r>
            <a:endParaRPr lang="en-US" sz="1200" dirty="0"/>
          </a:p>
        </p:txBody>
      </p:sp>
      <p:sp>
        <p:nvSpPr>
          <p:cNvPr id="14" name="Bad status 2"/>
          <p:cNvSpPr txBox="1"/>
          <p:nvPr/>
        </p:nvSpPr>
        <p:spPr>
          <a:xfrm>
            <a:off x="6691134" y="3291840"/>
            <a:ext cx="19956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Pausado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Otros anuncios pausados</a:t>
            </a:r>
            <a:endParaRPr lang="en-US" sz="3000" dirty="0"/>
          </a:p>
        </p:txBody>
      </p:sp>
      <p:pic>
        <p:nvPicPr>
          <p:cNvPr id="3" name="Capture V3 Vetting Process" descr="Capture V3 Vetting Proce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5270" y="1051560"/>
            <a:ext cx="1303476" cy="265176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F1235">
                <a:alpha val="18000"/>
              </a:srgbClr>
            </a:outerShdw>
          </a:effectLst>
        </p:spPr>
      </p:pic>
      <p:sp>
        <p:nvSpPr>
          <p:cNvPr id="4" name="Other name 1"/>
          <p:cNvSpPr txBox="1"/>
          <p:nvPr/>
        </p:nvSpPr>
        <p:spPr>
          <a:xfrm>
            <a:off x="457200" y="3794760"/>
            <a:ext cx="1499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V3 Vetting Process</a:t>
            </a:r>
            <a:endParaRPr lang="en-US" sz="1200" dirty="0"/>
          </a:p>
        </p:txBody>
      </p:sp>
      <p:sp>
        <p:nvSpPr>
          <p:cNvPr id="5" name="Other nums 1"/>
          <p:cNvSpPr txBox="1"/>
          <p:nvPr/>
        </p:nvSpPr>
        <p:spPr>
          <a:xfrm>
            <a:off x="457200" y="4069080"/>
            <a:ext cx="1499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$12.43 · 6 clics</a:t>
            </a:r>
            <a:endParaRPr lang="en-US" sz="1100" dirty="0"/>
          </a:p>
        </p:txBody>
      </p:sp>
      <p:pic>
        <p:nvPicPr>
          <p:cNvPr id="6" name="Capture S6 What VA Does" descr="Capture S6 What VA Do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7108" y="1051560"/>
            <a:ext cx="1344791" cy="265176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F1235">
                <a:alpha val="18000"/>
              </a:srgbClr>
            </a:outerShdw>
          </a:effectLst>
        </p:spPr>
      </p:pic>
      <p:sp>
        <p:nvSpPr>
          <p:cNvPr id="7" name="Other name 2"/>
          <p:cNvSpPr txBox="1"/>
          <p:nvPr/>
        </p:nvSpPr>
        <p:spPr>
          <a:xfrm>
            <a:off x="2139696" y="3794760"/>
            <a:ext cx="1499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S6 What VA Does</a:t>
            </a:r>
            <a:endParaRPr lang="en-US" sz="1200" dirty="0"/>
          </a:p>
        </p:txBody>
      </p:sp>
      <p:sp>
        <p:nvSpPr>
          <p:cNvPr id="8" name="Other nums 2"/>
          <p:cNvSpPr txBox="1"/>
          <p:nvPr/>
        </p:nvSpPr>
        <p:spPr>
          <a:xfrm>
            <a:off x="2139696" y="4069080"/>
            <a:ext cx="1499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$4.76 · 2 clics</a:t>
            </a:r>
            <a:endParaRPr lang="en-US" sz="1100" dirty="0"/>
          </a:p>
        </p:txBody>
      </p:sp>
      <p:pic>
        <p:nvPicPr>
          <p:cNvPr id="9" name="Capture V4 Founder Story" descr="Capture V4 Founder Stor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6392" y="1051560"/>
            <a:ext cx="1351215" cy="265176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F1235">
                <a:alpha val="18000"/>
              </a:srgbClr>
            </a:outerShdw>
          </a:effectLst>
        </p:spPr>
      </p:pic>
      <p:sp>
        <p:nvSpPr>
          <p:cNvPr id="10" name="Other name 3"/>
          <p:cNvSpPr txBox="1"/>
          <p:nvPr/>
        </p:nvSpPr>
        <p:spPr>
          <a:xfrm>
            <a:off x="3822192" y="3794760"/>
            <a:ext cx="1499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V4 Founder Story</a:t>
            </a:r>
            <a:endParaRPr lang="en-US" sz="1200" dirty="0"/>
          </a:p>
        </p:txBody>
      </p:sp>
      <p:sp>
        <p:nvSpPr>
          <p:cNvPr id="11" name="Other nums 3"/>
          <p:cNvSpPr txBox="1"/>
          <p:nvPr/>
        </p:nvSpPr>
        <p:spPr>
          <a:xfrm>
            <a:off x="3822192" y="4069080"/>
            <a:ext cx="1499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$2.42 · 12 clics</a:t>
            </a:r>
            <a:endParaRPr lang="en-US" sz="1100" dirty="0"/>
          </a:p>
        </p:txBody>
      </p:sp>
      <p:pic>
        <p:nvPicPr>
          <p:cNvPr id="12" name="Capture C1 Guilty" descr="Capture C1 Guilt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4475" y="1051560"/>
            <a:ext cx="1540042" cy="265176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F1235">
                <a:alpha val="18000"/>
              </a:srgbClr>
            </a:outerShdw>
          </a:effectLst>
        </p:spPr>
      </p:pic>
      <p:sp>
        <p:nvSpPr>
          <p:cNvPr id="13" name="Other name 4"/>
          <p:cNvSpPr txBox="1"/>
          <p:nvPr/>
        </p:nvSpPr>
        <p:spPr>
          <a:xfrm>
            <a:off x="5504688" y="3794760"/>
            <a:ext cx="1499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C1 Guilty</a:t>
            </a:r>
            <a:endParaRPr lang="en-US" sz="1200" dirty="0"/>
          </a:p>
        </p:txBody>
      </p:sp>
      <p:sp>
        <p:nvSpPr>
          <p:cNvPr id="14" name="Other nums 4"/>
          <p:cNvSpPr txBox="1"/>
          <p:nvPr/>
        </p:nvSpPr>
        <p:spPr>
          <a:xfrm>
            <a:off x="5504688" y="4069080"/>
            <a:ext cx="1499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$0.52 · 1 clic</a:t>
            </a:r>
            <a:endParaRPr lang="en-US" sz="1100" dirty="0"/>
          </a:p>
        </p:txBody>
      </p:sp>
      <p:pic>
        <p:nvPicPr>
          <p:cNvPr id="15" name="Capture S1 Cost" descr="Capture S1 Cos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64596" y="1051560"/>
            <a:ext cx="1344791" cy="265176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F1235">
                <a:alpha val="18000"/>
              </a:srgbClr>
            </a:outerShdw>
          </a:effectLst>
        </p:spPr>
      </p:pic>
      <p:sp>
        <p:nvSpPr>
          <p:cNvPr id="16" name="Other name 5"/>
          <p:cNvSpPr txBox="1"/>
          <p:nvPr/>
        </p:nvSpPr>
        <p:spPr>
          <a:xfrm>
            <a:off x="7187184" y="3794760"/>
            <a:ext cx="1499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S1 Cost</a:t>
            </a:r>
            <a:endParaRPr lang="en-US" sz="1200" dirty="0"/>
          </a:p>
        </p:txBody>
      </p:sp>
      <p:sp>
        <p:nvSpPr>
          <p:cNvPr id="17" name="Other nums 5"/>
          <p:cNvSpPr txBox="1"/>
          <p:nvPr/>
        </p:nvSpPr>
        <p:spPr>
          <a:xfrm>
            <a:off x="7187184" y="4069080"/>
            <a:ext cx="1499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$0.05 · 0 clics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Plan para esta semana (12 – 18 oct)</a:t>
            </a:r>
            <a:endParaRPr lang="en-US" sz="3000" dirty="0"/>
          </a:p>
        </p:txBody>
      </p:sp>
      <p:sp>
        <p:nvSpPr>
          <p:cNvPr id="3" name="Plan card 1"/>
          <p:cNvSpPr/>
          <p:nvPr/>
        </p:nvSpPr>
        <p:spPr>
          <a:xfrm>
            <a:off x="457200" y="1097280"/>
            <a:ext cx="2615184" cy="3017520"/>
          </a:xfrm>
          <a:prstGeom prst="roundRect">
            <a:avLst>
              <a:gd name="adj" fmla="val 41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Plan dot 1"/>
          <p:cNvSpPr/>
          <p:nvPr/>
        </p:nvSpPr>
        <p:spPr>
          <a:xfrm>
            <a:off x="685800" y="1325880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Plan dot 1 label"/>
          <p:cNvSpPr txBox="1"/>
          <p:nvPr/>
        </p:nvSpPr>
        <p:spPr>
          <a:xfrm>
            <a:off x="68580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Plan head 1"/>
          <p:cNvSpPr txBox="1"/>
          <p:nvPr/>
        </p:nvSpPr>
        <p:spPr>
          <a:xfrm>
            <a:off x="685800" y="19659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Dejar que Meta aprenda</a:t>
            </a:r>
            <a:endParaRPr lang="en-US" sz="1700" dirty="0"/>
          </a:p>
        </p:txBody>
      </p:sp>
      <p:sp>
        <p:nvSpPr>
          <p:cNvPr id="7" name="Plan body 1"/>
          <p:cNvSpPr txBox="1"/>
          <p:nvPr/>
        </p:nvSpPr>
        <p:spPr>
          <a:xfrm>
            <a:off x="685800" y="256032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No tocar la campaña durante 5 días. Solo pausar un anuncio si gasta unos $120 sin traer un lead que quiera contratar.</a:t>
            </a:r>
            <a:endParaRPr lang="en-US" sz="1300" dirty="0"/>
          </a:p>
        </p:txBody>
      </p:sp>
      <p:sp>
        <p:nvSpPr>
          <p:cNvPr id="8" name="Plan card 2"/>
          <p:cNvSpPr/>
          <p:nvPr/>
        </p:nvSpPr>
        <p:spPr>
          <a:xfrm>
            <a:off x="3264408" y="1097280"/>
            <a:ext cx="2615184" cy="3017520"/>
          </a:xfrm>
          <a:prstGeom prst="roundRect">
            <a:avLst>
              <a:gd name="adj" fmla="val 41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Plan dot 2"/>
          <p:cNvSpPr/>
          <p:nvPr/>
        </p:nvSpPr>
        <p:spPr>
          <a:xfrm>
            <a:off x="3493008" y="1325880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Plan dot 2 label"/>
          <p:cNvSpPr txBox="1"/>
          <p:nvPr/>
        </p:nvSpPr>
        <p:spPr>
          <a:xfrm>
            <a:off x="3493008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Plan head 2"/>
          <p:cNvSpPr txBox="1"/>
          <p:nvPr/>
        </p:nvSpPr>
        <p:spPr>
          <a:xfrm>
            <a:off x="3493008" y="19659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Medir cada lead en GHL</a:t>
            </a:r>
            <a:endParaRPr lang="en-US" sz="1700" dirty="0"/>
          </a:p>
        </p:txBody>
      </p:sp>
      <p:sp>
        <p:nvSpPr>
          <p:cNvPr id="12" name="Plan body 2"/>
          <p:cNvSpPr txBox="1"/>
          <p:nvPr/>
        </p:nvSpPr>
        <p:spPr>
          <a:xfrm>
            <a:off x="3493008" y="256032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La alerta diaria (martes a viernes) separa a quien quiere contratar de quien busca trabajo, por anuncio.</a:t>
            </a:r>
            <a:endParaRPr lang="en-US" sz="1300" dirty="0"/>
          </a:p>
        </p:txBody>
      </p:sp>
      <p:sp>
        <p:nvSpPr>
          <p:cNvPr id="13" name="Plan card 3"/>
          <p:cNvSpPr/>
          <p:nvPr/>
        </p:nvSpPr>
        <p:spPr>
          <a:xfrm>
            <a:off x="6071616" y="1097280"/>
            <a:ext cx="2615184" cy="3017520"/>
          </a:xfrm>
          <a:prstGeom prst="roundRect">
            <a:avLst>
              <a:gd name="adj" fmla="val 41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Plan dot 3"/>
          <p:cNvSpPr/>
          <p:nvPr/>
        </p:nvSpPr>
        <p:spPr>
          <a:xfrm>
            <a:off x="6300216" y="1325880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5" name="Plan dot 3 label"/>
          <p:cNvSpPr txBox="1"/>
          <p:nvPr/>
        </p:nvSpPr>
        <p:spPr>
          <a:xfrm>
            <a:off x="6300216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Plan head 3"/>
          <p:cNvSpPr txBox="1"/>
          <p:nvPr/>
        </p:nvSpPr>
        <p:spPr>
          <a:xfrm>
            <a:off x="6300216" y="19659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Subir creativos nuevos</a:t>
            </a:r>
            <a:endParaRPr lang="en-US" sz="1700" dirty="0"/>
          </a:p>
        </p:txBody>
      </p:sp>
      <p:sp>
        <p:nvSpPr>
          <p:cNvPr id="17" name="Plan body 3"/>
          <p:cNvSpPr txBox="1"/>
          <p:nvPr/>
        </p:nvSpPr>
        <p:spPr>
          <a:xfrm>
            <a:off x="6300216" y="256032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Con "For Law Firm Owners" o "For Business Owners" sobre la imagen. En el video de V2, cambiar "19 jobs" por "19 roles".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Decisiones que necesitamos de ustedes</a:t>
            </a:r>
            <a:endParaRPr lang="en-US" sz="3000" dirty="0"/>
          </a:p>
        </p:txBody>
      </p:sp>
      <p:sp>
        <p:nvSpPr>
          <p:cNvPr id="3" name="Decision box 1"/>
          <p:cNvSpPr/>
          <p:nvPr/>
        </p:nvSpPr>
        <p:spPr>
          <a:xfrm>
            <a:off x="457200" y="1188720"/>
            <a:ext cx="347472" cy="347472"/>
          </a:xfrm>
          <a:prstGeom prst="roundRect">
            <a:avLst>
              <a:gd name="adj" fmla="val 15789"/>
            </a:avLst>
          </a:prstGeom>
          <a:solidFill>
            <a:schemeClr val="tx2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4" name="Decision head 1"/>
          <p:cNvSpPr txBox="1"/>
          <p:nvPr/>
        </p:nvSpPr>
        <p:spPr>
          <a:xfrm>
            <a:off x="1005840" y="114300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Origen de 3 contactos</a:t>
            </a:r>
            <a:endParaRPr lang="en-US" sz="1800" dirty="0"/>
          </a:p>
        </p:txBody>
      </p:sp>
      <p:sp>
        <p:nvSpPr>
          <p:cNvPr id="5" name="Decision body 1"/>
          <p:cNvSpPr txBox="1"/>
          <p:nvPr/>
        </p:nvSpPr>
        <p:spPr>
          <a:xfrm>
            <a:off x="1005840" y="1572768"/>
            <a:ext cx="7680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¿Los 3 contactos que agendaron la noche del 11 de octubre vinieron de otro canal o fueron pruebas del formulario?</a:t>
            </a:r>
            <a:endParaRPr lang="en-US" sz="1400" dirty="0"/>
          </a:p>
        </p:txBody>
      </p:sp>
      <p:sp>
        <p:nvSpPr>
          <p:cNvPr id="6" name="Decision box 2"/>
          <p:cNvSpPr/>
          <p:nvPr/>
        </p:nvSpPr>
        <p:spPr>
          <a:xfrm>
            <a:off x="457200" y="2331720"/>
            <a:ext cx="347472" cy="347472"/>
          </a:xfrm>
          <a:prstGeom prst="roundRect">
            <a:avLst>
              <a:gd name="adj" fmla="val 15789"/>
            </a:avLst>
          </a:prstGeom>
          <a:solidFill>
            <a:schemeClr val="tx2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7" name="Decision head 2"/>
          <p:cNvSpPr txBox="1"/>
          <p:nvPr/>
        </p:nvSpPr>
        <p:spPr>
          <a:xfrm>
            <a:off x="1005840" y="228600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Costo máximo por lead calificado</a:t>
            </a:r>
            <a:endParaRPr lang="en-US" sz="1800" dirty="0"/>
          </a:p>
        </p:txBody>
      </p:sp>
      <p:sp>
        <p:nvSpPr>
          <p:cNvPr id="8" name="Decision body 2"/>
          <p:cNvSpPr txBox="1"/>
          <p:nvPr/>
        </p:nvSpPr>
        <p:spPr>
          <a:xfrm>
            <a:off x="1005840" y="2715768"/>
            <a:ext cx="7680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¿Cuánto están dispuestos a pagar por cada lead que quiere contratar? Ese número define cuándo escalar o pausar.</a:t>
            </a:r>
            <a:endParaRPr lang="en-US" sz="1400" dirty="0"/>
          </a:p>
        </p:txBody>
      </p:sp>
      <p:sp>
        <p:nvSpPr>
          <p:cNvPr id="9" name="Decision box 3"/>
          <p:cNvSpPr/>
          <p:nvPr/>
        </p:nvSpPr>
        <p:spPr>
          <a:xfrm>
            <a:off x="457200" y="3474720"/>
            <a:ext cx="347472" cy="347472"/>
          </a:xfrm>
          <a:prstGeom prst="roundRect">
            <a:avLst>
              <a:gd name="adj" fmla="val 15789"/>
            </a:avLst>
          </a:prstGeom>
          <a:solidFill>
            <a:schemeClr val="tx2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10" name="Decision head 3"/>
          <p:cNvSpPr txBox="1"/>
          <p:nvPr/>
        </p:nvSpPr>
        <p:spPr>
          <a:xfrm>
            <a:off x="1005840" y="342900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Evento "Lead" solo para compradores</a:t>
            </a:r>
            <a:endParaRPr lang="en-US" sz="1800" dirty="0"/>
          </a:p>
        </p:txBody>
      </p:sp>
      <p:sp>
        <p:nvSpPr>
          <p:cNvPr id="11" name="Decision body 3"/>
          <p:cNvSpPr txBox="1"/>
          <p:nvPr/>
        </p:nvSpPr>
        <p:spPr>
          <a:xfrm>
            <a:off x="1005840" y="3858768"/>
            <a:ext cx="7680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¿Aprueban que GHL avise a Meta de un lead solo cuando la persona responde "I want to hire."? Así Meta aprende de compradores.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rchid">
  <a:themeElements>
    <a:clrScheme name="Orchid">
      <a:dk1>
        <a:srgbClr val="1F1235"/>
      </a:dk1>
      <a:lt1>
        <a:srgbClr val="FFFFFF"/>
      </a:lt1>
      <a:dk2>
        <a:srgbClr val="3B1C78"/>
      </a:dk2>
      <a:lt2>
        <a:srgbClr val="F3F0FA"/>
      </a:lt2>
      <a:accent1>
        <a:srgbClr val="F6C343"/>
      </a:accent1>
      <a:accent2>
        <a:srgbClr val="3B1C78"/>
      </a:accent2>
      <a:accent3>
        <a:srgbClr val="8B6FD1"/>
      </a:accent3>
      <a:accent4>
        <a:srgbClr val="2E8B5E"/>
      </a:accent4>
      <a:accent5>
        <a:srgbClr val="C8463A"/>
      </a:accent5>
      <a:accent6>
        <a:srgbClr val="6B6680"/>
      </a:accent6>
      <a:hlink>
        <a:srgbClr val="3B1C78"/>
      </a:hlink>
      <a:folHlink>
        <a:srgbClr val="8B6FD1"/>
      </a:folHlink>
    </a:clrScheme>
    <a:fontScheme name="Orchid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Informe Meta Ads Orchid – Del 29 sep al 11 oct</dc:title>
  <dc:subject>PptxGenJS Presentation</dc:subject>
  <dc:creator>Orchid</dc:creator>
  <cp:lastModifiedBy>Orchid</cp:lastModifiedBy>
  <cp:revision>1</cp:revision>
  <dcterms:created xsi:type="dcterms:W3CDTF">2026-10-12T13:55:01Z</dcterms:created>
  <dcterms:modified xsi:type="dcterms:W3CDTF">2026-10-12T13:55:01Z</dcterms:modified>
</cp:coreProperties>
</file>