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c47b3d2a-5893-428d-3807-e5cc97519078}">
          <p14:sldIdLst>
            <p14:sldId id="256"/>
            <p14:sldId id="257"/>
          </p14:sldIdLst>
        </p14:section>
        <p14:section name="Resultados" id="{2585bd9e-a7ea-f7cb-47af-99e93131814f}">
          <p14:sldIdLst>
            <p14:sldId id="258"/>
            <p14:sldId id="259"/>
          </p14:sldIdLst>
        </p14:section>
        <p14:section name="Qué hicimos" id="{b2c2d562-ebbe-2fca-7288-3d5a25fb1ab7}">
          <p14:sldIdLst>
            <p14:sldId id="260"/>
          </p14:sldIdLst>
        </p14:section>
        <p14:section name="Anuncios" id="{8b091a91-365e-3313-5b45-6d653d0386c9}">
          <p14:sldIdLst>
            <p14:sldId id="261"/>
            <p14:sldId id="262"/>
          </p14:sldIdLst>
        </p14:section>
        <p14:section name="Aprendizajes" id="{e163c7e2-7340-96e2-f082-26a62d1a7ac8}">
          <p14:sldIdLst>
            <p14:sldId id="263"/>
          </p14:sldIdLst>
        </p14:section>
        <p14:section name="Conclusiones" id="{e634705c-009e-ded4-7af3-7d4af16257f5}">
          <p14:sldIdLst>
            <p14:sldId id="264"/>
          </p14:sldIdLst>
        </p14:section>
        <p14:section name="Próximos pasos" id="{ce7664f9-9bd5-3006-a701-980163f4fc5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Clics en el enlace</c:v>
                </c:pt>
              </c:strCache>
            </c:strRef>
          </c:tx>
          <c:spPr>
            <a:solidFill>
              <a:srgbClr val="3B1C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Semana 3 · 12 – 18 oct</c:v>
                  </c:pt>
                  <c:pt idx="1">
                    <c:v>Semana 4 · 19 – 25 oct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Visitas a la landing</c:v>
                </c:pt>
              </c:strCache>
            </c:strRef>
          </c:tx>
          <c:spPr>
            <a:solidFill>
              <a:srgbClr val="8B6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Semana 3 · 12 – 18 oct</c:v>
                  </c:pt>
                  <c:pt idx="1">
                    <c:v>Semana 4 · 19 – 25 oct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2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6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Semana 4: entrega interrumpida por un pago rechazado, primera pausa de fin de semana, rotación de creativos y preparación de la prueba A/B/C de destino (activa desde el 26 oct).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Gasto de octubre al 26: $890.62. El tope de $1,000/mes rige desde noviembre.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CTR se mantuvo: el anuncio sigue interesando; lo que se encareció fue llegar a la misma audiencia pequeña.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Revisar en GHL de dónde vienen los 4 contactos sin atribución (posible formulario de otro canal).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y motivo de cada cambio en build/CHANGELOG_META.md.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S10 gastó $0.58 antes de pausarse el 19 oct. Desde el 26 oct S9, H3 y H5 corren en la prueba A/B/C.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Atribución en GHL: A y B por nombre del anuncio (TEST A/B); C por la etiqueta fb-instant-form. El lead de prueba de C llegó correctamente.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semanas sin lead calificado: la prueba A/B/C y el público ampliado son el siguiente paso lógico antes de cambiar de canal o de oferta.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imágenes con persona estresada al teléfono funcionan como hook, pero sumadas a "hire a part-time professional" se leen como vacante.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Gasto de octubre al 26 oct: $890.62. Próximo reporte: lunes 2 nov (semana 26 oct – 1 nov).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Pendientes anteriores: categorías de la página (Recruiter, Real Estate), CPL calificado objetivo y CAPI solo para "I want to hire.".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Orchid · Informe Meta Ads · Semana 19 – 25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Informe Meta Ads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Semana del 19 al 25 oct 2026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Reporte de desempeño · Dirección de Orchid · 26 oct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Resumen ejecutivo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"/>
          <p:cNvSpPr txBox="1"/>
          <p:nvPr/>
        </p:nvSpPr>
        <p:spPr>
          <a:xfrm>
            <a:off x="685800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$177.45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Inversión</a:t>
            </a:r>
            <a:endParaRPr lang="en-US" sz="1500" dirty="0"/>
          </a:p>
        </p:txBody>
      </p:sp>
      <p:sp>
        <p:nvSpPr>
          <p:cNvPr id="6" name="Stat note 1"/>
          <p:cNvSpPr txBox="1"/>
          <p:nvPr/>
        </p:nvSpPr>
        <p:spPr>
          <a:xfrm>
            <a:off x="68580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19 – 25 oct · 4 días con entrega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3264408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"/>
          <p:cNvSpPr txBox="1"/>
          <p:nvPr/>
        </p:nvSpPr>
        <p:spPr>
          <a:xfrm>
            <a:off x="3493008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Stat label 2"/>
          <p:cNvSpPr txBox="1"/>
          <p:nvPr/>
        </p:nvSpPr>
        <p:spPr>
          <a:xfrm>
            <a:off x="3493008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Leads calificados</a:t>
            </a:r>
            <a:endParaRPr lang="en-US" sz="1500" dirty="0"/>
          </a:p>
        </p:txBody>
      </p:sp>
      <p:sp>
        <p:nvSpPr>
          <p:cNvPr id="10" name="Stat note 2"/>
          <p:cNvSpPr txBox="1"/>
          <p:nvPr/>
        </p:nvSpPr>
        <p:spPr>
          <a:xfrm>
            <a:off x="3493008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1 lead en la semana: buscaba empleo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6071616" y="1143000"/>
            <a:ext cx="261518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3"/>
          <p:cNvSpPr txBox="1"/>
          <p:nvPr/>
        </p:nvSpPr>
        <p:spPr>
          <a:xfrm>
            <a:off x="6300216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$114</a:t>
            </a:r>
            <a:endParaRPr lang="en-US" sz="44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300216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CPM</a:t>
            </a:r>
            <a:endParaRPr lang="en-US" sz="1500" dirty="0"/>
          </a:p>
        </p:txBody>
      </p:sp>
      <p:sp>
        <p:nvSpPr>
          <p:cNvPr id="14" name="Stat note 3"/>
          <p:cNvSpPr txBox="1"/>
          <p:nvPr/>
        </p:nvSpPr>
        <p:spPr>
          <a:xfrm>
            <a:off x="6300216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Semana anterior: $65</a:t>
            </a:r>
            <a:endParaRPr lang="en-US" sz="1100" dirty="0"/>
          </a:p>
        </p:txBody>
      </p:sp>
      <p:sp>
        <p:nvSpPr>
          <p:cNvPr id="15" name="Summary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Semana corta y cara.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pago rechazado detuvo la cuenta el 19 y 20 oct, y desde el viernes 23 a las 4 pm rige la pausa de fin de semana. El público hiperlocal (939 personas alcanzadas) se saturó y el CPM casi se duplicó. El lunes 26 se reemplazó por la prueba A/B/C en NY, NJ y PA.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 semanales</a:t>
            </a:r>
            <a:endParaRPr lang="en-US" sz="3000" dirty="0"/>
          </a:p>
        </p:txBody>
      </p:sp>
      <p:graphicFrame>
        <p:nvGraphicFramePr>
          <p:cNvPr id="3" name="Clicks chart" descr=""/>
          <p:cNvGraphicFramePr/>
          <p:nvPr/>
        </p:nvGraphicFramePr>
        <p:xfrm>
          <a:off x="365760" y="1051560"/>
          <a:ext cx="4206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Wee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5156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con entrega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$288.30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$114.04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(enlace)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por visita a landing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calificados (GHL)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Buscadores de empleo (GHL)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5" name="Week note"/>
          <p:cNvSpPr txBox="1"/>
          <p:nvPr/>
        </p:nvSpPr>
        <p:spPr>
          <a:xfrm>
            <a:off x="484632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Alcance de la semana: 939 personas, frecuencia 1.65. El público hiperlocal se agotó.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Entrega diaria y leads</a:t>
            </a:r>
            <a:endParaRPr lang="en-US" sz="3000" dirty="0"/>
          </a:p>
        </p:txBody>
      </p:sp>
      <p:graphicFrame>
        <p:nvGraphicFramePr>
          <p:cNvPr id="5" name="Dail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548640"/>
                <a:gridCol w="64008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 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rechazado en la tarde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8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bloqueada por saldo pendiente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Mié 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resuelto; presupuesto a $45/día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 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 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8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lead (H5); pausa desde las 4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 24 – Dom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de fin de semana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</a:tbl>
          </a:graphicData>
        </a:graphic>
      </p:graphicFrame>
      <p:sp>
        <p:nvSpPr>
          <p:cNvPr id="4" name="Leads card"/>
          <p:cNvSpPr/>
          <p:nvPr/>
        </p:nvSpPr>
        <p:spPr>
          <a:xfrm>
            <a:off x="6035040" y="1051560"/>
            <a:ext cx="2651760" cy="31089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eads head"/>
          <p:cNvSpPr txBox="1"/>
          <p:nvPr/>
        </p:nvSpPr>
        <p:spPr>
          <a:xfrm>
            <a:off x="621792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Leads en GHL</a:t>
            </a:r>
            <a:endParaRPr lang="en-US" sz="1400" dirty="0"/>
          </a:p>
        </p:txBody>
      </p:sp>
      <p:sp>
        <p:nvSpPr>
          <p:cNvPr id="6" name="Leads body"/>
          <p:cNvSpPr txBox="1"/>
          <p:nvPr/>
        </p:nvSpPr>
        <p:spPr>
          <a:xfrm>
            <a:off x="6217920" y="155448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23 oct · 🔵 H5 Phones While In Court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463A"/>
                </a:solidFill>
              </a:rPr>
              <a:t>"I'm looking for a job" · Other business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 contactos sin anuncio de origen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23 y 25 oct, sin respuestas en el formulario. El 25 los anuncios estaban apagados: no provienen de Meta.</a:t>
            </a:r>
            <a:endParaRPr lang="en-US" sz="1100" dirty="0"/>
          </a:p>
        </p:txBody>
      </p:sp>
      <p:sp>
        <p:nvSpPr>
          <p:cNvPr id="7" name="Daily note"/>
          <p:cNvSpPr txBox="1"/>
          <p:nvPr/>
        </p:nvSpPr>
        <p:spPr>
          <a:xfrm>
            <a:off x="45720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Meta gastó $71 el 21 oct con presupuesto de $45: recuperó parte de los días sin entrega.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Cronología de cambios</a:t>
            </a:r>
            <a:endParaRPr lang="en-US" sz="3000" dirty="0"/>
          </a:p>
        </p:txBody>
      </p:sp>
      <p:sp>
        <p:nvSpPr>
          <p:cNvPr id="3" name="Timeline line"/>
          <p:cNvSpPr/>
          <p:nvPr/>
        </p:nvSpPr>
        <p:spPr>
          <a:xfrm>
            <a:off x="731520" y="1700784"/>
            <a:ext cx="76809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Timeline dot 1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imeline dot 1 label"/>
          <p:cNvSpPr txBox="1"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imeline date 1"/>
          <p:cNvSpPr txBox="1"/>
          <p:nvPr/>
        </p:nvSpPr>
        <p:spPr>
          <a:xfrm>
            <a:off x="457200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19 oct</a:t>
            </a:r>
            <a:endParaRPr lang="en-US" sz="1300" dirty="0"/>
          </a:p>
        </p:txBody>
      </p:sp>
      <p:sp>
        <p:nvSpPr>
          <p:cNvPr id="7" name="Timeline head 1"/>
          <p:cNvSpPr txBox="1"/>
          <p:nvPr/>
        </p:nvSpPr>
        <p:spPr>
          <a:xfrm>
            <a:off x="457200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</a:t>
            </a:r>
            <a:endParaRPr lang="en-US" sz="1500" dirty="0"/>
          </a:p>
        </p:txBody>
      </p:sp>
      <p:sp>
        <p:nvSpPr>
          <p:cNvPr id="8" name="Timeline body 1"/>
          <p:cNvSpPr txBox="1"/>
          <p:nvPr/>
        </p:nvSpPr>
        <p:spPr>
          <a:xfrm>
            <a:off x="457200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S10 pausado (criterio de corte). H3 activo. Banca de 6 anuncios H1–H6.</a:t>
            </a:r>
            <a:endParaRPr lang="en-US" sz="1200" dirty="0"/>
          </a:p>
        </p:txBody>
      </p:sp>
      <p:sp>
        <p:nvSpPr>
          <p:cNvPr id="9" name="Timeline dot 2"/>
          <p:cNvSpPr/>
          <p:nvPr/>
        </p:nvSpPr>
        <p:spPr>
          <a:xfrm>
            <a:off x="2231136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imeline dot 2 label"/>
          <p:cNvSpPr txBox="1"/>
          <p:nvPr/>
        </p:nvSpPr>
        <p:spPr>
          <a:xfrm>
            <a:off x="223113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imeline date 2"/>
          <p:cNvSpPr txBox="1"/>
          <p:nvPr/>
        </p:nvSpPr>
        <p:spPr>
          <a:xfrm>
            <a:off x="2139696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20 oct</a:t>
            </a:r>
            <a:endParaRPr lang="en-US" sz="1300" dirty="0"/>
          </a:p>
        </p:txBody>
      </p:sp>
      <p:sp>
        <p:nvSpPr>
          <p:cNvPr id="12" name="Timeline head 2"/>
          <p:cNvSpPr txBox="1"/>
          <p:nvPr/>
        </p:nvSpPr>
        <p:spPr>
          <a:xfrm>
            <a:off x="2139696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 bloqueada</a:t>
            </a:r>
            <a:endParaRPr lang="en-US" sz="1500" dirty="0"/>
          </a:p>
        </p:txBody>
      </p:sp>
      <p:sp>
        <p:nvSpPr>
          <p:cNvPr id="13" name="Timeline body 2"/>
          <p:cNvSpPr txBox="1"/>
          <p:nvPr/>
        </p:nvSpPr>
        <p:spPr>
          <a:xfrm>
            <a:off x="2139696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Pago rechazado ($102.28). Sin entrega.</a:t>
            </a:r>
            <a:endParaRPr lang="en-US" sz="1200" dirty="0"/>
          </a:p>
        </p:txBody>
      </p:sp>
      <p:sp>
        <p:nvSpPr>
          <p:cNvPr id="14" name="Timeline dot 3"/>
          <p:cNvSpPr/>
          <p:nvPr/>
        </p:nvSpPr>
        <p:spPr>
          <a:xfrm>
            <a:off x="3913632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imeline dot 3 label"/>
          <p:cNvSpPr txBox="1"/>
          <p:nvPr/>
        </p:nvSpPr>
        <p:spPr>
          <a:xfrm>
            <a:off x="391363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imeline date 3"/>
          <p:cNvSpPr txBox="1"/>
          <p:nvPr/>
        </p:nvSpPr>
        <p:spPr>
          <a:xfrm>
            <a:off x="3822192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21 oct</a:t>
            </a:r>
            <a:endParaRPr lang="en-US" sz="1300" dirty="0"/>
          </a:p>
        </p:txBody>
      </p:sp>
      <p:sp>
        <p:nvSpPr>
          <p:cNvPr id="17" name="Timeline head 3"/>
          <p:cNvSpPr txBox="1"/>
          <p:nvPr/>
        </p:nvSpPr>
        <p:spPr>
          <a:xfrm>
            <a:off x="3822192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</a:t>
            </a:r>
            <a:endParaRPr lang="en-US" sz="1500" dirty="0"/>
          </a:p>
        </p:txBody>
      </p:sp>
      <p:sp>
        <p:nvSpPr>
          <p:cNvPr id="18" name="Timeline body 3"/>
          <p:cNvSpPr txBox="1"/>
          <p:nvPr/>
        </p:nvSpPr>
        <p:spPr>
          <a:xfrm>
            <a:off x="3822192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Pago resuelto. $45/día para $1,000/mes con fines de semana apagados.</a:t>
            </a:r>
            <a:endParaRPr lang="en-US" sz="1200" dirty="0"/>
          </a:p>
        </p:txBody>
      </p:sp>
      <p:sp>
        <p:nvSpPr>
          <p:cNvPr id="19" name="Timeline dot 4"/>
          <p:cNvSpPr/>
          <p:nvPr/>
        </p:nvSpPr>
        <p:spPr>
          <a:xfrm>
            <a:off x="5596128" y="150876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imeline dot 4 label"/>
          <p:cNvSpPr txBox="1"/>
          <p:nvPr/>
        </p:nvSpPr>
        <p:spPr>
          <a:xfrm>
            <a:off x="559612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imeline date 4"/>
          <p:cNvSpPr txBox="1"/>
          <p:nvPr/>
        </p:nvSpPr>
        <p:spPr>
          <a:xfrm>
            <a:off x="5504688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23 oct</a:t>
            </a:r>
            <a:endParaRPr lang="en-US" sz="1300" dirty="0"/>
          </a:p>
        </p:txBody>
      </p:sp>
      <p:sp>
        <p:nvSpPr>
          <p:cNvPr id="22" name="Timeline head 4"/>
          <p:cNvSpPr txBox="1"/>
          <p:nvPr/>
        </p:nvSpPr>
        <p:spPr>
          <a:xfrm>
            <a:off x="5504688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 + pausa</a:t>
            </a:r>
            <a:endParaRPr lang="en-US" sz="1500" dirty="0"/>
          </a:p>
        </p:txBody>
      </p:sp>
      <p:sp>
        <p:nvSpPr>
          <p:cNvPr id="23" name="Timeline body 4"/>
          <p:cNvSpPr txBox="1"/>
          <p:nvPr/>
        </p:nvSpPr>
        <p:spPr>
          <a:xfrm>
            <a:off x="5504688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S11 pausado, H5 activo. Formulario instantáneo creado. Primera pausa de fin de semana.</a:t>
            </a:r>
            <a:endParaRPr lang="en-US" sz="1200" dirty="0"/>
          </a:p>
        </p:txBody>
      </p:sp>
      <p:sp>
        <p:nvSpPr>
          <p:cNvPr id="24" name="Timeline dot 5"/>
          <p:cNvSpPr/>
          <p:nvPr/>
        </p:nvSpPr>
        <p:spPr>
          <a:xfrm>
            <a:off x="7278624" y="1508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imeline dot 5 label"/>
          <p:cNvSpPr txBox="1"/>
          <p:nvPr/>
        </p:nvSpPr>
        <p:spPr>
          <a:xfrm>
            <a:off x="7278624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imeline date 5"/>
          <p:cNvSpPr txBox="1"/>
          <p:nvPr/>
        </p:nvSpPr>
        <p:spPr>
          <a:xfrm>
            <a:off x="7187184" y="2057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26 oct</a:t>
            </a:r>
            <a:endParaRPr lang="en-US" sz="1300" dirty="0"/>
          </a:p>
        </p:txBody>
      </p:sp>
      <p:sp>
        <p:nvSpPr>
          <p:cNvPr id="27" name="Timeline head 5"/>
          <p:cNvSpPr txBox="1"/>
          <p:nvPr/>
        </p:nvSpPr>
        <p:spPr>
          <a:xfrm>
            <a:off x="7187184" y="2377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A/B/C</a:t>
            </a:r>
            <a:endParaRPr lang="en-US" sz="1500" dirty="0"/>
          </a:p>
        </p:txBody>
      </p:sp>
      <p:sp>
        <p:nvSpPr>
          <p:cNvPr id="28" name="Timeline body 5"/>
          <p:cNvSpPr txBox="1"/>
          <p:nvPr/>
        </p:nvSpPr>
        <p:spPr>
          <a:xfrm>
            <a:off x="7187184" y="2834640"/>
            <a:ext cx="1554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Landing corregida y landing de solo formulario. Prueba activa; hiperlocal en pausa.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Creativos de la semana (hiperlocal)</a:t>
            </a:r>
            <a:endParaRPr lang="en-US" sz="3000" dirty="0"/>
          </a:p>
        </p:txBody>
      </p:sp>
      <p:pic>
        <p:nvPicPr>
          <p:cNvPr id="3" name="Capture S9 Attorneys" descr="Capture S9 Attorne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704" y="1005840"/>
            <a:ext cx="1275233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4" name="Week name 1"/>
          <p:cNvSpPr txBox="1"/>
          <p:nvPr/>
        </p:nvSpPr>
        <p:spPr>
          <a:xfrm>
            <a:off x="45720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S9 Attorneys</a:t>
            </a:r>
            <a:endParaRPr lang="en-US" sz="1200" dirty="0"/>
          </a:p>
        </p:txBody>
      </p:sp>
      <p:sp>
        <p:nvSpPr>
          <p:cNvPr id="5" name="Week nums 1"/>
          <p:cNvSpPr txBox="1"/>
          <p:nvPr/>
        </p:nvSpPr>
        <p:spPr>
          <a:xfrm>
            <a:off x="45720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$17.82 · CTR 2.67%</a:t>
            </a:r>
            <a:endParaRPr lang="en-US" sz="1100" dirty="0"/>
          </a:p>
        </p:txBody>
      </p:sp>
      <p:sp>
        <p:nvSpPr>
          <p:cNvPr id="6" name="Week res 1"/>
          <p:cNvSpPr txBox="1"/>
          <p:nvPr/>
        </p:nvSpPr>
        <p:spPr>
          <a:xfrm>
            <a:off x="457200" y="4142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7 visitas · 0 leads</a:t>
            </a:r>
            <a:endParaRPr lang="en-US" sz="1100" dirty="0"/>
          </a:p>
        </p:txBody>
      </p:sp>
      <p:pic>
        <p:nvPicPr>
          <p:cNvPr id="7" name="Capture 🔵 S11 Intake Calls" descr="Capture 🔵 S11 Intake Ca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412" y="1005840"/>
            <a:ext cx="1236055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8" name="Week name 2"/>
          <p:cNvSpPr txBox="1"/>
          <p:nvPr/>
        </p:nvSpPr>
        <p:spPr>
          <a:xfrm>
            <a:off x="256032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🔵 S11 Intake Calls</a:t>
            </a:r>
            <a:endParaRPr lang="en-US" sz="1200" dirty="0"/>
          </a:p>
        </p:txBody>
      </p:sp>
      <p:sp>
        <p:nvSpPr>
          <p:cNvPr id="9" name="Week nums 2"/>
          <p:cNvSpPr txBox="1"/>
          <p:nvPr/>
        </p:nvSpPr>
        <p:spPr>
          <a:xfrm>
            <a:off x="256032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$97.45 · CPM $144</a:t>
            </a:r>
            <a:endParaRPr lang="en-US" sz="1100" dirty="0"/>
          </a:p>
        </p:txBody>
      </p:sp>
      <p:sp>
        <p:nvSpPr>
          <p:cNvPr id="10" name="Week res 2"/>
          <p:cNvSpPr txBox="1"/>
          <p:nvPr/>
        </p:nvSpPr>
        <p:spPr>
          <a:xfrm>
            <a:off x="2560320" y="4142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3 visitas · pausado 23 oct</a:t>
            </a:r>
            <a:endParaRPr lang="en-US" sz="1100" dirty="0"/>
          </a:p>
        </p:txBody>
      </p:sp>
      <p:pic>
        <p:nvPicPr>
          <p:cNvPr id="11" name="Capture 🔵 H3 Saturdays" descr="Capture 🔵 H3 Saturday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32" y="1005840"/>
            <a:ext cx="1236055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2" name="Week name 3"/>
          <p:cNvSpPr txBox="1"/>
          <p:nvPr/>
        </p:nvSpPr>
        <p:spPr>
          <a:xfrm>
            <a:off x="466344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🔵 H3 Saturdays</a:t>
            </a:r>
            <a:endParaRPr lang="en-US" sz="1200" dirty="0"/>
          </a:p>
        </p:txBody>
      </p:sp>
      <p:sp>
        <p:nvSpPr>
          <p:cNvPr id="13" name="Week nums 3"/>
          <p:cNvSpPr txBox="1"/>
          <p:nvPr/>
        </p:nvSpPr>
        <p:spPr>
          <a:xfrm>
            <a:off x="466344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$41.47 · CPM $122</a:t>
            </a:r>
            <a:endParaRPr lang="en-US" sz="1100" dirty="0"/>
          </a:p>
        </p:txBody>
      </p:sp>
      <p:sp>
        <p:nvSpPr>
          <p:cNvPr id="14" name="Week res 3"/>
          <p:cNvSpPr txBox="1"/>
          <p:nvPr/>
        </p:nvSpPr>
        <p:spPr>
          <a:xfrm>
            <a:off x="4663440" y="4142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3 visitas · 0 leads</a:t>
            </a:r>
            <a:endParaRPr lang="en-US" sz="1100" dirty="0"/>
          </a:p>
        </p:txBody>
      </p:sp>
      <p:pic>
        <p:nvPicPr>
          <p:cNvPr id="15" name="Capture 🔵 H5 Phones in Court" descr="Capture 🔵 H5 Phones in Cou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652" y="1005840"/>
            <a:ext cx="1236055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16" name="Week name 4"/>
          <p:cNvSpPr txBox="1"/>
          <p:nvPr/>
        </p:nvSpPr>
        <p:spPr>
          <a:xfrm>
            <a:off x="6766560" y="3611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🔵 H5 Phones in Court</a:t>
            </a:r>
            <a:endParaRPr lang="en-US" sz="1200" dirty="0"/>
          </a:p>
        </p:txBody>
      </p:sp>
      <p:sp>
        <p:nvSpPr>
          <p:cNvPr id="17" name="Week nums 4"/>
          <p:cNvSpPr txBox="1"/>
          <p:nvPr/>
        </p:nvSpPr>
        <p:spPr>
          <a:xfrm>
            <a:off x="6766560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$20.13 · 2 clics</a:t>
            </a:r>
            <a:endParaRPr lang="en-US" sz="1100" dirty="0"/>
          </a:p>
        </p:txBody>
      </p:sp>
      <p:sp>
        <p:nvSpPr>
          <p:cNvPr id="18" name="Week res 4"/>
          <p:cNvSpPr txBox="1"/>
          <p:nvPr/>
        </p:nvSpPr>
        <p:spPr>
          <a:xfrm>
            <a:off x="6766560" y="4142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1 lead: buscaba empleo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Prueba A/B/C de destino</a:t>
            </a:r>
            <a:endParaRPr lang="en-US" sz="3000" dirty="0"/>
          </a:p>
        </p:txBody>
      </p:sp>
      <p:graphicFrame>
        <p:nvGraphicFramePr>
          <p:cNvPr id="8" name="Te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949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10058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1C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de solo formulario · /hire-form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$15/día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completa corregida · /hire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$15/día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0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1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instantáneo de 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1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$15/día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st design"/>
          <p:cNvSpPr txBox="1"/>
          <p:nvPr/>
        </p:nvSpPr>
        <p:spPr>
          <a:xfrm>
            <a:off x="457200" y="27432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1C78"/>
                </a:solidFill>
              </a:rPr>
              <a:t>Diseño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Mismos anuncios (S9, H3, H5), mismo público: abogados en NY, NJ y PA, 30–65 años (6.6–7.8 M). Meta separa el público entre las tres versiones. Del 26 oct al 21 nov.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Métrica: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costo por lead calificado en GHL. Con $15/día por versión el resultado será una tendencia, no estadística concluyente.</a:t>
            </a:r>
            <a:endParaRPr lang="en-US" sz="1200" dirty="0"/>
          </a:p>
        </p:txBody>
      </p:sp>
      <p:pic>
        <p:nvPicPr>
          <p:cNvPr id="5" name="Capture TEST B S9" descr="Capture TEST B S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05840"/>
            <a:ext cx="1437535" cy="28346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pic>
        <p:nvPicPr>
          <p:cNvPr id="6" name="Capture TEST C H5" descr="Capture TEST C H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735" y="1005840"/>
            <a:ext cx="1437535" cy="28346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F1235">
                <a:alpha val="18000"/>
              </a:srgbClr>
            </a:outerShdw>
          </a:effectLst>
        </p:spPr>
      </p:pic>
      <p:sp>
        <p:nvSpPr>
          <p:cNvPr id="7" name="Test caption B"/>
          <p:cNvSpPr txBox="1"/>
          <p:nvPr/>
        </p:nvSpPr>
        <p:spPr>
          <a:xfrm>
            <a:off x="6035040" y="3931920"/>
            <a:ext cx="143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B · landing</a:t>
            </a:r>
            <a:endParaRPr lang="en-US" sz="1000" dirty="0"/>
          </a:p>
        </p:txBody>
      </p:sp>
      <p:sp>
        <p:nvSpPr>
          <p:cNvPr id="8" name="Test caption C"/>
          <p:cNvSpPr txBox="1"/>
          <p:nvPr/>
        </p:nvSpPr>
        <p:spPr>
          <a:xfrm>
            <a:off x="7609735" y="3931920"/>
            <a:ext cx="143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 · formulario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Hallazgos</a:t>
            </a:r>
            <a:endParaRPr lang="en-US" sz="3000" dirty="0"/>
          </a:p>
        </p:txBody>
      </p:sp>
      <p:sp>
        <p:nvSpPr>
          <p:cNvPr id="3" name="Learning dot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Learning dot 1 label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Learning head 1"/>
          <p:cNvSpPr txBox="1"/>
          <p:nvPr/>
        </p:nvSpPr>
        <p:spPr>
          <a:xfrm>
            <a:off x="1051560" y="105156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El público hiperlocal se agotó en 10 días.</a:t>
            </a:r>
            <a:endParaRPr lang="en-US" sz="1600" dirty="0"/>
          </a:p>
        </p:txBody>
      </p:sp>
      <p:sp>
        <p:nvSpPr>
          <p:cNvPr id="6" name="Learning body 1"/>
          <p:cNvSpPr txBox="1"/>
          <p:nvPr/>
        </p:nvSpPr>
        <p:spPr>
          <a:xfrm>
            <a:off x="1051560" y="143560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939 personas alcanzadas en la semana; CPM de $65 a $114 y costo por visita de $5.65 a $11.09.</a:t>
            </a:r>
            <a:endParaRPr lang="en-US" sz="1300" dirty="0"/>
          </a:p>
        </p:txBody>
      </p:sp>
      <p:sp>
        <p:nvSpPr>
          <p:cNvPr id="7" name="Learning dot 2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earning dot 2 label"/>
          <p:cNvSpPr txBox="1"/>
          <p:nvPr/>
        </p:nvSpPr>
        <p:spPr>
          <a:xfrm>
            <a:off x="45720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Learning head 2"/>
          <p:cNvSpPr txBox="1"/>
          <p:nvPr/>
        </p:nvSpPr>
        <p:spPr>
          <a:xfrm>
            <a:off x="1051560" y="194767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S9 ("for the attorneys") es el creativo más eficiente.</a:t>
            </a:r>
            <a:endParaRPr lang="en-US" sz="1600" dirty="0"/>
          </a:p>
        </p:txBody>
      </p:sp>
      <p:sp>
        <p:nvSpPr>
          <p:cNvPr id="10" name="Learning body 2"/>
          <p:cNvSpPr txBox="1"/>
          <p:nvPr/>
        </p:nvSpPr>
        <p:spPr>
          <a:xfrm>
            <a:off x="1051560" y="23317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CTR 2.67% y CPM $53: 7 de las 16 visitas de la semana con el 10% del gasto.</a:t>
            </a:r>
            <a:endParaRPr lang="en-US" sz="1300" dirty="0"/>
          </a:p>
        </p:txBody>
      </p:sp>
      <p:sp>
        <p:nvSpPr>
          <p:cNvPr id="11" name="Learning dot 3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Learning dot 3 label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Learning head 3"/>
          <p:cNvSpPr txBox="1"/>
          <p:nvPr/>
        </p:nvSpPr>
        <p:spPr>
          <a:xfrm>
            <a:off x="1051560" y="2843784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asistente al teléfono atrae candidatos.</a:t>
            </a:r>
            <a:endParaRPr lang="en-US" sz="1600" dirty="0"/>
          </a:p>
        </p:txBody>
      </p:sp>
      <p:sp>
        <p:nvSpPr>
          <p:cNvPr id="14" name="Learning body 3"/>
          <p:cNvSpPr txBox="1"/>
          <p:nvPr/>
        </p:nvSpPr>
        <p:spPr>
          <a:xfrm>
            <a:off x="1051560" y="3227832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H5 trajo un buscador de empleo; S11 llegó a CPM $144. La imagen se lee como un puesto de trabajo.</a:t>
            </a:r>
            <a:endParaRPr lang="en-US" sz="1300" dirty="0"/>
          </a:p>
        </p:txBody>
      </p:sp>
      <p:sp>
        <p:nvSpPr>
          <p:cNvPr id="15" name="Learning dot 4"/>
          <p:cNvSpPr/>
          <p:nvPr/>
        </p:nvSpPr>
        <p:spPr>
          <a:xfrm>
            <a:off x="457200" y="3785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Learning dot 4 label"/>
          <p:cNvSpPr txBox="1"/>
          <p:nvPr/>
        </p:nvSpPr>
        <p:spPr>
          <a:xfrm>
            <a:off x="45720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Learning head 4"/>
          <p:cNvSpPr txBox="1"/>
          <p:nvPr/>
        </p:nvSpPr>
        <p:spPr>
          <a:xfrm>
            <a:off x="1051560" y="3739896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landing no coincidía con el anuncio.</a:t>
            </a:r>
            <a:endParaRPr lang="en-US" sz="1600" dirty="0"/>
          </a:p>
        </p:txBody>
      </p:sp>
      <p:sp>
        <p:nvSpPr>
          <p:cNvPr id="18" name="Learning body 4"/>
          <p:cNvSpPr txBox="1"/>
          <p:nvPr/>
        </p:nvSpPr>
        <p:spPr>
          <a:xfrm>
            <a:off x="1051560" y="412394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Corregida el 26 oct: "for law firms, from $15/hr" y formulario más corto. Efecto medible desde esta semana.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" name="Conclusion head 1"/>
          <p:cNvSpPr txBox="1"/>
          <p:nvPr/>
        </p:nvSpPr>
        <p:spPr>
          <a:xfrm>
            <a:off x="4572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</a:t>
            </a:r>
            <a:endParaRPr lang="en-US" sz="1800" dirty="0"/>
          </a:p>
        </p:txBody>
      </p:sp>
      <p:sp>
        <p:nvSpPr>
          <p:cNvPr id="4" name="Conclusion card 1.1"/>
          <p:cNvSpPr/>
          <p:nvPr/>
        </p:nvSpPr>
        <p:spPr>
          <a:xfrm>
            <a:off x="457200" y="15087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nclusion dot 1.1"/>
          <p:cNvSpPr/>
          <p:nvPr/>
        </p:nvSpPr>
        <p:spPr>
          <a:xfrm>
            <a:off x="594360" y="175564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Conclusion title 1.1"/>
          <p:cNvSpPr txBox="1"/>
          <p:nvPr/>
        </p:nvSpPr>
        <p:spPr>
          <a:xfrm>
            <a:off x="914400" y="1563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Pausa de fin de semana</a:t>
            </a:r>
            <a:endParaRPr lang="en-US" sz="1300" dirty="0"/>
          </a:p>
        </p:txBody>
      </p:sp>
      <p:sp>
        <p:nvSpPr>
          <p:cNvPr id="7" name="Conclusion body 1.1"/>
          <p:cNvSpPr txBox="1"/>
          <p:nvPr/>
        </p:nvSpPr>
        <p:spPr>
          <a:xfrm>
            <a:off x="914400" y="1837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$0 sábado y domingo; presupuesto concentrado en días hábiles.</a:t>
            </a:r>
            <a:endParaRPr lang="en-US" sz="1100" dirty="0"/>
          </a:p>
        </p:txBody>
      </p:sp>
      <p:sp>
        <p:nvSpPr>
          <p:cNvPr id="8" name="Conclusion card 1.2"/>
          <p:cNvSpPr/>
          <p:nvPr/>
        </p:nvSpPr>
        <p:spPr>
          <a:xfrm>
            <a:off x="457200" y="228600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nclusion dot 1.2"/>
          <p:cNvSpPr/>
          <p:nvPr/>
        </p:nvSpPr>
        <p:spPr>
          <a:xfrm>
            <a:off x="594360" y="253288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Conclusion title 1.2"/>
          <p:cNvSpPr txBox="1"/>
          <p:nvPr/>
        </p:nvSpPr>
        <p:spPr>
          <a:xfrm>
            <a:off x="91440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Creativo "for the attorneys"</a:t>
            </a:r>
            <a:endParaRPr lang="en-US" sz="1300" dirty="0"/>
          </a:p>
        </p:txBody>
      </p:sp>
      <p:sp>
        <p:nvSpPr>
          <p:cNvPr id="11" name="Conclusion body 1.2"/>
          <p:cNvSpPr txBox="1"/>
          <p:nvPr/>
        </p:nvSpPr>
        <p:spPr>
          <a:xfrm>
            <a:off x="914400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Mejor CTR y CPM de la semana (S9).</a:t>
            </a:r>
            <a:endParaRPr lang="en-US" sz="1100" dirty="0"/>
          </a:p>
        </p:txBody>
      </p:sp>
      <p:sp>
        <p:nvSpPr>
          <p:cNvPr id="12" name="Conclusion card 1.3"/>
          <p:cNvSpPr/>
          <p:nvPr/>
        </p:nvSpPr>
        <p:spPr>
          <a:xfrm>
            <a:off x="457200" y="306324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onclusion dot 1.3"/>
          <p:cNvSpPr/>
          <p:nvPr/>
        </p:nvSpPr>
        <p:spPr>
          <a:xfrm>
            <a:off x="594360" y="331012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onclusion title 1.3"/>
          <p:cNvSpPr txBox="1"/>
          <p:nvPr/>
        </p:nvSpPr>
        <p:spPr>
          <a:xfrm>
            <a:off x="914400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Embudo corregido</a:t>
            </a:r>
            <a:endParaRPr lang="en-US" sz="1300" dirty="0"/>
          </a:p>
        </p:txBody>
      </p:sp>
      <p:sp>
        <p:nvSpPr>
          <p:cNvPr id="15" name="Conclusion body 1.3"/>
          <p:cNvSpPr txBox="1"/>
          <p:nvPr/>
        </p:nvSpPr>
        <p:spPr>
          <a:xfrm>
            <a:off x="914400" y="3392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Landing alineada al anuncio, formulario corto y formulario instantáneo conectado a GHL.</a:t>
            </a:r>
            <a:endParaRPr lang="en-US" sz="1100" dirty="0"/>
          </a:p>
        </p:txBody>
      </p:sp>
      <p:sp>
        <p:nvSpPr>
          <p:cNvPr id="16" name="Conclusion card 1.4"/>
          <p:cNvSpPr/>
          <p:nvPr/>
        </p:nvSpPr>
        <p:spPr>
          <a:xfrm>
            <a:off x="45720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onclusion dot 1.4"/>
          <p:cNvSpPr/>
          <p:nvPr/>
        </p:nvSpPr>
        <p:spPr>
          <a:xfrm>
            <a:off x="594360" y="408736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Conclusion title 1.4"/>
          <p:cNvSpPr txBox="1"/>
          <p:nvPr/>
        </p:nvSpPr>
        <p:spPr>
          <a:xfrm>
            <a:off x="91440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Banca de creativos</a:t>
            </a:r>
            <a:endParaRPr lang="en-US" sz="1300" dirty="0"/>
          </a:p>
        </p:txBody>
      </p:sp>
      <p:sp>
        <p:nvSpPr>
          <p:cNvPr id="19" name="Conclusion body 1.4"/>
          <p:cNvSpPr txBox="1"/>
          <p:nvPr/>
        </p:nvSpPr>
        <p:spPr>
          <a:xfrm>
            <a:off x="914400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Rotaciones el mismo día (S10→H3, S11→H5) sin esperar diseño.</a:t>
            </a:r>
            <a:endParaRPr lang="en-US" sz="1100" dirty="0"/>
          </a:p>
        </p:txBody>
      </p:sp>
      <p:sp>
        <p:nvSpPr>
          <p:cNvPr id="20" name="Conclusion head 2"/>
          <p:cNvSpPr txBox="1"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funciona</a:t>
            </a:r>
            <a:endParaRPr lang="en-US" sz="1800" dirty="0"/>
          </a:p>
        </p:txBody>
      </p:sp>
      <p:sp>
        <p:nvSpPr>
          <p:cNvPr id="21" name="Conclusion card 2.1"/>
          <p:cNvSpPr/>
          <p:nvPr/>
        </p:nvSpPr>
        <p:spPr>
          <a:xfrm>
            <a:off x="4663440" y="150876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onclusion dot 2.1"/>
          <p:cNvSpPr/>
          <p:nvPr/>
        </p:nvSpPr>
        <p:spPr>
          <a:xfrm>
            <a:off x="4800600" y="175564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Conclusion title 2.1"/>
          <p:cNvSpPr txBox="1"/>
          <p:nvPr/>
        </p:nvSpPr>
        <p:spPr>
          <a:xfrm>
            <a:off x="5120640" y="1563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Audiencia hiperlocal</a:t>
            </a:r>
            <a:endParaRPr lang="en-US" sz="1300" dirty="0"/>
          </a:p>
        </p:txBody>
      </p:sp>
      <p:sp>
        <p:nvSpPr>
          <p:cNvPr id="24" name="Conclusion body 2.1"/>
          <p:cNvSpPr txBox="1"/>
          <p:nvPr/>
        </p:nvSpPr>
        <p:spPr>
          <a:xfrm>
            <a:off x="5120640" y="183794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Demasiado pequeña: CPM ×1.8 en una semana.</a:t>
            </a:r>
            <a:endParaRPr lang="en-US" sz="1100" dirty="0"/>
          </a:p>
        </p:txBody>
      </p:sp>
      <p:sp>
        <p:nvSpPr>
          <p:cNvPr id="25" name="Conclusion card 2.2"/>
          <p:cNvSpPr/>
          <p:nvPr/>
        </p:nvSpPr>
        <p:spPr>
          <a:xfrm>
            <a:off x="4663440" y="228600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onclusion dot 2.2"/>
          <p:cNvSpPr/>
          <p:nvPr/>
        </p:nvSpPr>
        <p:spPr>
          <a:xfrm>
            <a:off x="4800600" y="253288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Conclusion title 2.2"/>
          <p:cNvSpPr txBox="1"/>
          <p:nvPr/>
        </p:nvSpPr>
        <p:spPr>
          <a:xfrm>
            <a:off x="512064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Imágenes de asistente al teléfono</a:t>
            </a:r>
            <a:endParaRPr lang="en-US" sz="1300" dirty="0"/>
          </a:p>
        </p:txBody>
      </p:sp>
      <p:sp>
        <p:nvSpPr>
          <p:cNvPr id="28" name="Conclusion body 2.2"/>
          <p:cNvSpPr txBox="1"/>
          <p:nvPr/>
        </p:nvSpPr>
        <p:spPr>
          <a:xfrm>
            <a:off x="5120640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Atraen buscadores de empleo (H5).</a:t>
            </a:r>
            <a:endParaRPr lang="en-US" sz="1100" dirty="0"/>
          </a:p>
        </p:txBody>
      </p:sp>
      <p:sp>
        <p:nvSpPr>
          <p:cNvPr id="29" name="Conclusion card 2.3"/>
          <p:cNvSpPr/>
          <p:nvPr/>
        </p:nvSpPr>
        <p:spPr>
          <a:xfrm>
            <a:off x="4663440" y="306324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onclusion dot 2.3"/>
          <p:cNvSpPr/>
          <p:nvPr/>
        </p:nvSpPr>
        <p:spPr>
          <a:xfrm>
            <a:off x="4800600" y="331012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Conclusion title 2.3"/>
          <p:cNvSpPr txBox="1"/>
          <p:nvPr/>
        </p:nvSpPr>
        <p:spPr>
          <a:xfrm>
            <a:off x="5120640" y="3118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Método de pago</a:t>
            </a:r>
            <a:endParaRPr lang="en-US" sz="1300" dirty="0"/>
          </a:p>
        </p:txBody>
      </p:sp>
      <p:sp>
        <p:nvSpPr>
          <p:cNvPr id="32" name="Conclusion body 2.3"/>
          <p:cNvSpPr txBox="1"/>
          <p:nvPr/>
        </p:nvSpPr>
        <p:spPr>
          <a:xfrm>
            <a:off x="5120640" y="33924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Pago rechazado: 2 días sin entrega.</a:t>
            </a:r>
            <a:endParaRPr lang="en-US" sz="1100" dirty="0"/>
          </a:p>
        </p:txBody>
      </p:sp>
      <p:sp>
        <p:nvSpPr>
          <p:cNvPr id="33" name="Conclusion card 2.4"/>
          <p:cNvSpPr/>
          <p:nvPr/>
        </p:nvSpPr>
        <p:spPr>
          <a:xfrm>
            <a:off x="4663440" y="3840480"/>
            <a:ext cx="402336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onclusion dot 2.4"/>
          <p:cNvSpPr/>
          <p:nvPr/>
        </p:nvSpPr>
        <p:spPr>
          <a:xfrm>
            <a:off x="4800600" y="408736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Conclusion title 2.4"/>
          <p:cNvSpPr txBox="1"/>
          <p:nvPr/>
        </p:nvSpPr>
        <p:spPr>
          <a:xfrm>
            <a:off x="512064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Leads calificados</a:t>
            </a:r>
            <a:endParaRPr lang="en-US" sz="1300" dirty="0"/>
          </a:p>
        </p:txBody>
      </p:sp>
      <p:sp>
        <p:nvSpPr>
          <p:cNvPr id="36" name="Conclusion body 2.4"/>
          <p:cNvSpPr txBox="1"/>
          <p:nvPr/>
        </p:nvSpPr>
        <p:spPr>
          <a:xfrm>
            <a:off x="5120640" y="41696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 en 4 semanas. La prueba A/B/C busca el cuello de botella.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 · 26 oct – 1 nov</a:t>
            </a:r>
            <a:endParaRPr lang="en-US" sz="3000" dirty="0"/>
          </a:p>
        </p:txBody>
      </p:sp>
      <p:sp>
        <p:nvSpPr>
          <p:cNvPr id="3" name="Plan card 1"/>
          <p:cNvSpPr/>
          <p:nvPr/>
        </p:nvSpPr>
        <p:spPr>
          <a:xfrm>
            <a:off x="457200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lan dot 1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lan dot 1 label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lan head 1"/>
          <p:cNvSpPr txBox="1"/>
          <p:nvPr/>
        </p:nvSpPr>
        <p:spPr>
          <a:xfrm>
            <a:off x="68580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A/B/C sin cambios</a:t>
            </a:r>
            <a:endParaRPr lang="en-US" sz="1700" dirty="0"/>
          </a:p>
        </p:txBody>
      </p:sp>
      <p:sp>
        <p:nvSpPr>
          <p:cNvPr id="7" name="Plan body 1"/>
          <p:cNvSpPr txBox="1"/>
          <p:nvPr/>
        </p:nvSpPr>
        <p:spPr>
          <a:xfrm>
            <a:off x="685800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Correr al menos 2 semanas sin tocar anuncios ni presupuesto. Primera lectura el lunes 2 nov.</a:t>
            </a:r>
            <a:endParaRPr lang="en-US" sz="1300" dirty="0"/>
          </a:p>
        </p:txBody>
      </p:sp>
      <p:sp>
        <p:nvSpPr>
          <p:cNvPr id="8" name="Plan card 2"/>
          <p:cNvSpPr/>
          <p:nvPr/>
        </p:nvSpPr>
        <p:spPr>
          <a:xfrm>
            <a:off x="3264408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lan dot 2"/>
          <p:cNvSpPr/>
          <p:nvPr/>
        </p:nvSpPr>
        <p:spPr>
          <a:xfrm>
            <a:off x="3493008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Plan dot 2 label"/>
          <p:cNvSpPr txBox="1"/>
          <p:nvPr/>
        </p:nvSpPr>
        <p:spPr>
          <a:xfrm>
            <a:off x="34930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lan head 2"/>
          <p:cNvSpPr txBox="1"/>
          <p:nvPr/>
        </p:nvSpPr>
        <p:spPr>
          <a:xfrm>
            <a:off x="3493008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diario</a:t>
            </a:r>
            <a:endParaRPr lang="en-US" sz="1700" dirty="0"/>
          </a:p>
        </p:txBody>
      </p:sp>
      <p:sp>
        <p:nvSpPr>
          <p:cNvPr id="12" name="Plan body 2"/>
          <p:cNvSpPr txBox="1"/>
          <p:nvPr/>
        </p:nvSpPr>
        <p:spPr>
          <a:xfrm>
            <a:off x="3493008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Leads por versión en GHL (TEST A, TEST B, fb-instant-form) y % de buscadores de empleo.</a:t>
            </a:r>
            <a:endParaRPr lang="en-US" sz="1300" dirty="0"/>
          </a:p>
        </p:txBody>
      </p:sp>
      <p:sp>
        <p:nvSpPr>
          <p:cNvPr id="13" name="Plan card 3"/>
          <p:cNvSpPr/>
          <p:nvPr/>
        </p:nvSpPr>
        <p:spPr>
          <a:xfrm>
            <a:off x="6071616" y="1097280"/>
            <a:ext cx="2615184" cy="301752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lan dot 3"/>
          <p:cNvSpPr/>
          <p:nvPr/>
        </p:nvSpPr>
        <p:spPr>
          <a:xfrm>
            <a:off x="6300216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Plan dot 3 label"/>
          <p:cNvSpPr txBox="1"/>
          <p:nvPr/>
        </p:nvSpPr>
        <p:spPr>
          <a:xfrm>
            <a:off x="630021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Plan head 3"/>
          <p:cNvSpPr txBox="1"/>
          <p:nvPr/>
        </p:nvSpPr>
        <p:spPr>
          <a:xfrm>
            <a:off x="6300216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de noviembre</a:t>
            </a:r>
            <a:endParaRPr lang="en-US" sz="1700" dirty="0"/>
          </a:p>
        </p:txBody>
      </p:sp>
      <p:sp>
        <p:nvSpPr>
          <p:cNvPr id="17" name="Plan body 3"/>
          <p:cNvSpPr txBox="1"/>
          <p:nvPr/>
        </p:nvSpPr>
        <p:spPr>
          <a:xfrm>
            <a:off x="6300216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$1,000/mes desde el 1 nov: $45/día hábil con pausa de fin de semana.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Decisiones requeridas</a:t>
            </a:r>
            <a:endParaRPr lang="en-US" sz="3000" dirty="0"/>
          </a:p>
        </p:txBody>
      </p:sp>
      <p:sp>
        <p:nvSpPr>
          <p:cNvPr id="3" name="Decision box 1"/>
          <p:cNvSpPr/>
          <p:nvPr/>
        </p:nvSpPr>
        <p:spPr>
          <a:xfrm>
            <a:off x="457200" y="1188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Decision head 1"/>
          <p:cNvSpPr txBox="1"/>
          <p:nvPr/>
        </p:nvSpPr>
        <p:spPr>
          <a:xfrm>
            <a:off x="1005840" y="1143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Método de pago de respaldo</a:t>
            </a:r>
            <a:endParaRPr lang="en-US" sz="1800" dirty="0"/>
          </a:p>
        </p:txBody>
      </p:sp>
      <p:sp>
        <p:nvSpPr>
          <p:cNvPr id="5" name="Decision body 1"/>
          <p:cNvSpPr txBox="1"/>
          <p:nvPr/>
        </p:nvSpPr>
        <p:spPr>
          <a:xfrm>
            <a:off x="1005840" y="1572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Agregar una segunda tarjeta en Meta para que un rechazo no vuelva a detener la cuenta.</a:t>
            </a:r>
            <a:endParaRPr lang="en-US" sz="1400" dirty="0"/>
          </a:p>
        </p:txBody>
      </p:sp>
      <p:sp>
        <p:nvSpPr>
          <p:cNvPr id="6" name="Decision box 2"/>
          <p:cNvSpPr/>
          <p:nvPr/>
        </p:nvSpPr>
        <p:spPr>
          <a:xfrm>
            <a:off x="457200" y="2331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7" name="Decision head 2"/>
          <p:cNvSpPr txBox="1"/>
          <p:nvPr/>
        </p:nvSpPr>
        <p:spPr>
          <a:xfrm>
            <a:off x="1005840" y="2286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Producción de videos</a:t>
            </a:r>
            <a:endParaRPr lang="en-US" sz="1800" dirty="0"/>
          </a:p>
        </p:txBody>
      </p:sp>
      <p:sp>
        <p:nvSpPr>
          <p:cNvPr id="8" name="Decision body 2"/>
          <p:cNvSpPr txBox="1"/>
          <p:nvPr/>
        </p:nvSpPr>
        <p:spPr>
          <a:xfrm>
            <a:off x="1005840" y="2715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Aprobar 2–3 anuncios en video (9:16, abogado en cámara). Pendiente desde el 19 oct.</a:t>
            </a:r>
            <a:endParaRPr lang="en-US" sz="1400" dirty="0"/>
          </a:p>
        </p:txBody>
      </p:sp>
      <p:sp>
        <p:nvSpPr>
          <p:cNvPr id="9" name="Decision box 3"/>
          <p:cNvSpPr/>
          <p:nvPr/>
        </p:nvSpPr>
        <p:spPr>
          <a:xfrm>
            <a:off x="457200" y="3474720"/>
            <a:ext cx="347472" cy="347472"/>
          </a:xfrm>
          <a:prstGeom prst="roundRect">
            <a:avLst>
              <a:gd name="adj" fmla="val 15789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Decision head 3"/>
          <p:cNvSpPr txBox="1"/>
          <p:nvPr/>
        </p:nvSpPr>
        <p:spPr>
          <a:xfrm>
            <a:off x="1005840" y="3429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Creativos sin asistente al teléfono</a:t>
            </a:r>
            <a:endParaRPr lang="en-US" sz="1800" dirty="0"/>
          </a:p>
        </p:txBody>
      </p:sp>
      <p:sp>
        <p:nvSpPr>
          <p:cNvPr id="11" name="Decision body 3"/>
          <p:cNvSpPr txBox="1"/>
          <p:nvPr/>
        </p:nvSpPr>
        <p:spPr>
          <a:xfrm>
            <a:off x="1005840" y="38587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Pedir a Debi imágenes centradas en el abogado y texto en imagen desde la firma, no "Hire a part-time professional".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chid">
  <a:themeElements>
    <a:clrScheme name="Orchid">
      <a:dk1>
        <a:srgbClr val="1F1235"/>
      </a:dk1>
      <a:lt1>
        <a:srgbClr val="FFFFFF"/>
      </a:lt1>
      <a:dk2>
        <a:srgbClr val="3B1C78"/>
      </a:dk2>
      <a:lt2>
        <a:srgbClr val="F3F0FA"/>
      </a:lt2>
      <a:accent1>
        <a:srgbClr val="F6C343"/>
      </a:accent1>
      <a:accent2>
        <a:srgbClr val="3B1C78"/>
      </a:accent2>
      <a:accent3>
        <a:srgbClr val="8B6FD1"/>
      </a:accent3>
      <a:accent4>
        <a:srgbClr val="2E8B5E"/>
      </a:accent4>
      <a:accent5>
        <a:srgbClr val="C8463A"/>
      </a:accent5>
      <a:accent6>
        <a:srgbClr val="6B6680"/>
      </a:accent6>
      <a:hlink>
        <a:srgbClr val="3B1C78"/>
      </a:hlink>
      <a:folHlink>
        <a:srgbClr val="8B6FD1"/>
      </a:folHlink>
    </a:clrScheme>
    <a:fontScheme name="Orchi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Meta Ads Orchid – Semana del 19 al 25 oct</dc:title>
  <dc:subject>PptxGenJS Presentation</dc:subject>
  <dc:creator>Orchid</dc:creator>
  <cp:lastModifiedBy>Orchid</cp:lastModifiedBy>
  <cp:revision>1</cp:revision>
  <dcterms:created xsi:type="dcterms:W3CDTF">2026-10-26T13:20:01Z</dcterms:created>
  <dcterms:modified xsi:type="dcterms:W3CDTF">2026-10-26T13:20:01Z</dcterms:modified>
</cp:coreProperties>
</file>