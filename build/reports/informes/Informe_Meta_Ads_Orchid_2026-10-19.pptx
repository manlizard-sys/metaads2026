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6fa92dd3-669d-0950-2e65-828820a88cb3}">
          <p14:sldIdLst>
            <p14:sldId id="256"/>
            <p14:sldId id="257"/>
          </p14:sldIdLst>
        </p14:section>
        <p14:section name="Resultados" id="{548c2184-7d08-2540-d383-debafaeac63a}">
          <p14:sldIdLst>
            <p14:sldId id="258"/>
            <p14:sldId id="259"/>
          </p14:sldIdLst>
        </p14:section>
        <p14:section name="Qué hicimos" id="{4db10b56-15b3-6b86-34e3-b965535f59df}">
          <p14:sldIdLst>
            <p14:sldId id="260"/>
            <p14:sldId id="261"/>
          </p14:sldIdLst>
        </p14:section>
        <p14:section name="Aprendizajes" id="{c98838c8-9030-1a74-9f00-5e1f99812270}">
          <p14:sldIdLst>
            <p14:sldId id="262"/>
          </p14:sldIdLst>
        </p14:section>
        <p14:section name="Anuncios" id="{2c8cfd8c-d1ac-6364-cd88-3d4b77ca056e}">
          <p14:sldIdLst>
            <p14:sldId id="263"/>
            <p14:sldId id="264"/>
            <p14:sldId id="265"/>
          </p14:sldIdLst>
        </p14:section>
        <p14:section name="Conclusiones" id="{3d1cb25f-6f58-328d-a64e-9762b3ea4ab1}">
          <p14:sldIdLst>
            <p14:sldId id="266"/>
          </p14:sldIdLst>
        </p14:section>
        <p14:section name="Estrategia creativa" id="{fbe80ef3-caca-161e-d3a9-66fce801559f}">
          <p14:sldIdLst>
            <p14:sldId id="267"/>
          </p14:sldIdLst>
        </p14:section>
        <p14:section name="Próximos pasos" id="{923f9b40-7a80-669d-b88c-503364ce8b4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Clics en el enlace</c:v>
                </c:pt>
              </c:strCache>
            </c:strRef>
          </c:tx>
          <c:spPr>
            <a:solidFill>
              <a:srgbClr val="3B1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2 · 5 – 11 oct</c:v>
                  </c:pt>
                  <c:pt idx="1">
                    <c:v>Semana 3 · 12 – 18 oct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Visitas a la landing</c:v>
                </c:pt>
              </c:strCache>
            </c:strRef>
          </c:tx>
          <c:spPr>
            <a:solidFill>
              <a:srgbClr val="8B6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2 · 5 – 11 oct</c:v>
                  </c:pt>
                  <c:pt idx="1">
                    <c:v>Semana 3 · 12 – 18 oct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6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3 de la campaña Leads – Hire VA: lanzamiento del piloto hiperlocal de inmigración con los creativos de Debi, correcciones técnicas y próximos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anuncios nuevos no trajeron ningún buscador de empleo. El cuello de botella pasa a ser la conversión en la landing.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caída de CTR se explica por el cambio de audiencia: menos personas, más específicas. Lo relevante es que cada visita a la landing cuesta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hiperlocal entrega más barato y no ha traído buscadores de empleo. Aún no trae leads: ver hallazgo sobre la landing.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 cada cambio y su motivo en build/CHANGELOG_META.md.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cambio de categorías lo hace un administrador de la página; no reinicia el aprendizaje de los anuncios.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🔵 S11 (copy específico de inmigración) recibió el 46% del gasto del hiperlocal con el CPM más bajo ($36).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previa en feed móvil con el copy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($1.64) y S1 ($0.06) gastaron montos marginales y siguen pausados.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 de rotación: H5 y H4 (los ángulos más específicos para abogados de inmigración).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Prioridad: validar el formulario y el evento Lead antes de seguir cambiando anuncios.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para los próximos creativos: texto en imagen desde la firma ("Your bilingual legal assistant · For U.S. law firms · From $15/hr") y versiones 9:16.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reporte: lunes 26 oct (semana 19–25 oct).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afectan la calidad de los leads más que cualquier ajuste de anuncios.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Orchid · Informe Meta Ads · Semana 12 – 18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Informe Meta Ads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Semana del 12 al 18 oct 2026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Reporte de desempeño · Dirección de Orchid · 19 oct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Resumen ejecutivo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68580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$288.30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Inversión</a:t>
            </a:r>
            <a:endParaRPr lang="en-US" sz="1500" dirty="0"/>
          </a:p>
        </p:txBody>
      </p:sp>
      <p:sp>
        <p:nvSpPr>
          <p:cNvPr id="6" name="Stat note 1"/>
          <p:cNvSpPr txBox="1"/>
          <p:nvPr/>
        </p:nvSpPr>
        <p:spPr>
          <a:xfrm>
            <a:off x="68580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 – 18 oct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3264408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493008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3493008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Leads calificados</a:t>
            </a:r>
            <a:endParaRPr lang="en-US" sz="1500" dirty="0"/>
          </a:p>
        </p:txBody>
      </p:sp>
      <p:sp>
        <p:nvSpPr>
          <p:cNvPr id="10" name="Stat note 2"/>
          <p:cNvSpPr txBox="1"/>
          <p:nvPr/>
        </p:nvSpPr>
        <p:spPr>
          <a:xfrm>
            <a:off x="349300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 lead en la semana: buscaba empleo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6071616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3"/>
          <p:cNvSpPr txBox="1"/>
          <p:nvPr/>
        </p:nvSpPr>
        <p:spPr>
          <a:xfrm>
            <a:off x="6300216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$5.65</a:t>
            </a:r>
            <a:endParaRPr lang="en-US" sz="4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300216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Costo por visita a la landing</a:t>
            </a:r>
            <a:endParaRPr lang="en-US" sz="1500" dirty="0"/>
          </a:p>
        </p:txBody>
      </p:sp>
      <p:sp>
        <p:nvSpPr>
          <p:cNvPr id="14" name="Stat note 3"/>
          <p:cNvSpPr txBox="1"/>
          <p:nvPr/>
        </p:nvSpPr>
        <p:spPr>
          <a:xfrm>
            <a:off x="6300216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Semana anterior: $7.29 (−22%)</a:t>
            </a:r>
            <a:endParaRPr lang="en-US" sz="1100" dirty="0"/>
          </a:p>
        </p:txBody>
      </p:sp>
      <p:sp>
        <p:nvSpPr>
          <p:cNvPr id="15" name="Summary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Tráfico más barato, sin conversión.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16 oct se movió todo el presupuesto al piloto hiperlocal (abogados alrededor de juzgados de inmigración y USCIS en NY, Newark y Philadelphia) con los creativos de Debi. El CPM bajó 44% y las visitas a la landing subieron 34%, pero ninguna terminó en lead calificado.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CPM −44%, +34% visitas a la landing</a:t>
            </a:r>
            <a:endParaRPr lang="en-US" sz="3000" dirty="0"/>
          </a:p>
        </p:txBody>
      </p:sp>
      <p:graphicFrame>
        <p:nvGraphicFramePr>
          <p:cNvPr id="3" name="Clicks chart" descr=""/>
          <p:cNvGraphicFramePr/>
          <p:nvPr/>
        </p:nvGraphicFramePr>
        <p:xfrm>
          <a:off x="365760" y="1051560"/>
          <a:ext cx="4206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Wee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$277.04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(enlace)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por visita a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calificados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Buscadores de empleo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Week note"/>
          <p:cNvSpPr txBox="1"/>
          <p:nvPr/>
        </p:nvSpPr>
        <p:spPr>
          <a:xfrm>
            <a:off x="484632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Inversión 6% sobre el tope semanal ($272.23 = 7 × $38.89): Meta gasta de más los días con cambios de presupuesto (14, 16 y 18 oct).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Nacional vs. piloto hiperlocal</a:t>
            </a:r>
            <a:endParaRPr lang="en-US" sz="3000" dirty="0"/>
          </a:p>
        </p:txBody>
      </p:sp>
      <p:graphicFrame>
        <p:nvGraphicFramePr>
          <p:cNvPr id="5" name="Spli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(12 – 16 oct)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Hiperlocal (16 – 18 oct)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V2, V1, S8 (copy v3)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S9, S10, S11 (copy v4)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Clics en el enlace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 a la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por visita a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buscaba empleo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4" name="Hyperlocal card"/>
          <p:cNvSpPr/>
          <p:nvPr/>
        </p:nvSpPr>
        <p:spPr>
          <a:xfrm>
            <a:off x="5852160" y="1051560"/>
            <a:ext cx="2834640" cy="315468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yper label"/>
          <p:cNvSpPr txBox="1"/>
          <p:nvPr/>
        </p:nvSpPr>
        <p:spPr>
          <a:xfrm>
            <a:off x="60807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Piloto hiperlocal</a:t>
            </a:r>
            <a:endParaRPr lang="en-US" sz="1200" dirty="0"/>
          </a:p>
        </p:txBody>
      </p:sp>
      <p:sp>
        <p:nvSpPr>
          <p:cNvPr id="6" name="Hyper body"/>
          <p:cNvSpPr txBox="1"/>
          <p:nvPr/>
        </p:nvSpPr>
        <p:spPr>
          <a:xfrm>
            <a:off x="6080760" y="160020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 zonas de 1 milla: 26 Federal Plaza (NY), 970 Broad St (Newark), USCIS y juzgado de Philadelphia.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25–65 años · intereses Law firm, Lawyer, Bar association.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$38.89/día desde el 16 oct; nacional en pausa.</a:t>
            </a:r>
            <a:endParaRPr lang="en-US" sz="1200" dirty="0"/>
          </a:p>
        </p:txBody>
      </p:sp>
      <p:sp>
        <p:nvSpPr>
          <p:cNvPr id="7" name="Split note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Leads GHL: se excluyen 3,005 contactos importados de Mailchimp el 18–19 oct (no son leads de formulario).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Cronología de cambios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731520" y="1700784"/>
            <a:ext cx="76809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imeline dot 1 label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imeline date 1"/>
          <p:cNvSpPr txBox="1"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 oct</a:t>
            </a:r>
            <a:endParaRPr lang="en-US" sz="1300" dirty="0"/>
          </a:p>
        </p:txBody>
      </p:sp>
      <p:sp>
        <p:nvSpPr>
          <p:cNvPr id="7" name="Timeline head 1"/>
          <p:cNvSpPr txBox="1"/>
          <p:nvPr/>
        </p:nvSpPr>
        <p:spPr>
          <a:xfrm>
            <a:off x="45720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</a:t>
            </a:r>
            <a:endParaRPr lang="en-US" sz="1500" dirty="0"/>
          </a:p>
        </p:txBody>
      </p:sp>
      <p:sp>
        <p:nvSpPr>
          <p:cNvPr id="8" name="Timeline body 1"/>
          <p:cNvSpPr txBox="1"/>
          <p:nvPr/>
        </p:nvSpPr>
        <p:spPr>
          <a:xfrm>
            <a:off x="45720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Advantage+ off, 30–65, copy v3 en V1, V2 y S8.</a:t>
            </a:r>
            <a:endParaRPr lang="en-US" sz="1200" dirty="0"/>
          </a:p>
        </p:txBody>
      </p:sp>
      <p:sp>
        <p:nvSpPr>
          <p:cNvPr id="9" name="Timeline dot 2"/>
          <p:cNvSpPr/>
          <p:nvPr/>
        </p:nvSpPr>
        <p:spPr>
          <a:xfrm>
            <a:off x="2231136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imeline dot 2 label"/>
          <p:cNvSpPr txBox="1"/>
          <p:nvPr/>
        </p:nvSpPr>
        <p:spPr>
          <a:xfrm>
            <a:off x="223113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imeline date 2"/>
          <p:cNvSpPr txBox="1"/>
          <p:nvPr/>
        </p:nvSpPr>
        <p:spPr>
          <a:xfrm>
            <a:off x="2139696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14 oct</a:t>
            </a:r>
            <a:endParaRPr lang="en-US" sz="1300" dirty="0"/>
          </a:p>
        </p:txBody>
      </p:sp>
      <p:sp>
        <p:nvSpPr>
          <p:cNvPr id="12" name="Timeline head 2"/>
          <p:cNvSpPr txBox="1"/>
          <p:nvPr/>
        </p:nvSpPr>
        <p:spPr>
          <a:xfrm>
            <a:off x="2139696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 S8</a:t>
            </a:r>
            <a:endParaRPr lang="en-US" sz="1500" dirty="0"/>
          </a:p>
        </p:txBody>
      </p:sp>
      <p:sp>
        <p:nvSpPr>
          <p:cNvPr id="13" name="Timeline body 2"/>
          <p:cNvSpPr txBox="1"/>
          <p:nvPr/>
        </p:nvSpPr>
        <p:spPr>
          <a:xfrm>
            <a:off x="2139696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$14 sin clics.</a:t>
            </a:r>
            <a:endParaRPr lang="en-US" sz="1200" dirty="0"/>
          </a:p>
        </p:txBody>
      </p:sp>
      <p:sp>
        <p:nvSpPr>
          <p:cNvPr id="14" name="Timeline dot 3"/>
          <p:cNvSpPr/>
          <p:nvPr/>
        </p:nvSpPr>
        <p:spPr>
          <a:xfrm>
            <a:off x="3913632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imeline dot 3 label"/>
          <p:cNvSpPr txBox="1"/>
          <p:nvPr/>
        </p:nvSpPr>
        <p:spPr>
          <a:xfrm>
            <a:off x="391363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imeline date 3"/>
          <p:cNvSpPr txBox="1"/>
          <p:nvPr/>
        </p:nvSpPr>
        <p:spPr>
          <a:xfrm>
            <a:off x="3822192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16 oct</a:t>
            </a:r>
            <a:endParaRPr lang="en-US" sz="1300" dirty="0"/>
          </a:p>
        </p:txBody>
      </p:sp>
      <p:sp>
        <p:nvSpPr>
          <p:cNvPr id="17" name="Timeline head 3"/>
          <p:cNvSpPr txBox="1"/>
          <p:nvPr/>
        </p:nvSpPr>
        <p:spPr>
          <a:xfrm>
            <a:off x="3822192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hiperlocal</a:t>
            </a:r>
            <a:endParaRPr lang="en-US" sz="1500" dirty="0"/>
          </a:p>
        </p:txBody>
      </p:sp>
      <p:sp>
        <p:nvSpPr>
          <p:cNvPr id="18" name="Timeline body 3"/>
          <p:cNvSpPr txBox="1"/>
          <p:nvPr/>
        </p:nvSpPr>
        <p:spPr>
          <a:xfrm>
            <a:off x="3822192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Copy v4 con creativos de Debi (S9, S10) y S11 para inmigración. Nacional en pausa.</a:t>
            </a:r>
            <a:endParaRPr lang="en-US" sz="1200" dirty="0"/>
          </a:p>
        </p:txBody>
      </p:sp>
      <p:sp>
        <p:nvSpPr>
          <p:cNvPr id="19" name="Timeline dot 4"/>
          <p:cNvSpPr/>
          <p:nvPr/>
        </p:nvSpPr>
        <p:spPr>
          <a:xfrm>
            <a:off x="5596128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imeline dot 4 label"/>
          <p:cNvSpPr txBox="1"/>
          <p:nvPr/>
        </p:nvSpPr>
        <p:spPr>
          <a:xfrm>
            <a:off x="559612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imeline date 4"/>
          <p:cNvSpPr txBox="1"/>
          <p:nvPr/>
        </p:nvSpPr>
        <p:spPr>
          <a:xfrm>
            <a:off x="5504688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17 oct</a:t>
            </a:r>
            <a:endParaRPr lang="en-US" sz="1300" dirty="0"/>
          </a:p>
        </p:txBody>
      </p:sp>
      <p:sp>
        <p:nvSpPr>
          <p:cNvPr id="22" name="Timeline head 4"/>
          <p:cNvSpPr txBox="1"/>
          <p:nvPr/>
        </p:nvSpPr>
        <p:spPr>
          <a:xfrm>
            <a:off x="5504688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Correcciones</a:t>
            </a:r>
            <a:endParaRPr lang="en-US" sz="1500" dirty="0"/>
          </a:p>
        </p:txBody>
      </p:sp>
      <p:sp>
        <p:nvSpPr>
          <p:cNvPr id="23" name="Timeline body 4"/>
          <p:cNvSpPr txBox="1"/>
          <p:nvPr/>
        </p:nvSpPr>
        <p:spPr>
          <a:xfrm>
            <a:off x="5504688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Botón a la landing. Solo imágenes aprobadas, sin repetir entre anuncios.</a:t>
            </a:r>
            <a:endParaRPr lang="en-US" sz="1200" dirty="0"/>
          </a:p>
        </p:txBody>
      </p:sp>
      <p:sp>
        <p:nvSpPr>
          <p:cNvPr id="24" name="Timeline dot 5"/>
          <p:cNvSpPr/>
          <p:nvPr/>
        </p:nvSpPr>
        <p:spPr>
          <a:xfrm>
            <a:off x="7278624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imeline dot 5 label"/>
          <p:cNvSpPr txBox="1"/>
          <p:nvPr/>
        </p:nvSpPr>
        <p:spPr>
          <a:xfrm>
            <a:off x="727862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imeline date 5"/>
          <p:cNvSpPr txBox="1"/>
          <p:nvPr/>
        </p:nvSpPr>
        <p:spPr>
          <a:xfrm>
            <a:off x="7187184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19 oct</a:t>
            </a:r>
            <a:endParaRPr lang="en-US" sz="1300" dirty="0"/>
          </a:p>
        </p:txBody>
      </p:sp>
      <p:sp>
        <p:nvSpPr>
          <p:cNvPr id="27" name="Timeline head 5"/>
          <p:cNvSpPr txBox="1"/>
          <p:nvPr/>
        </p:nvSpPr>
        <p:spPr>
          <a:xfrm>
            <a:off x="7187184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</a:t>
            </a:r>
            <a:endParaRPr lang="en-US" sz="1500" dirty="0"/>
          </a:p>
        </p:txBody>
      </p:sp>
      <p:sp>
        <p:nvSpPr>
          <p:cNvPr id="28" name="Timeline body 5"/>
          <p:cNvSpPr txBox="1"/>
          <p:nvPr/>
        </p:nvSpPr>
        <p:spPr>
          <a:xfrm>
            <a:off x="7187184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Banca de 6 anuncios (H1–H6). S10 pausado, H3 activo.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Correcciones técnicas detectadas</a:t>
            </a:r>
            <a:endParaRPr lang="en-US" sz="3000" dirty="0"/>
          </a:p>
        </p:txBody>
      </p:sp>
      <p:sp>
        <p:nvSpPr>
          <p:cNvPr id="3" name="Fix card 1"/>
          <p:cNvSpPr/>
          <p:nvPr/>
        </p:nvSpPr>
        <p:spPr>
          <a:xfrm>
            <a:off x="457200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x dot 1"/>
          <p:cNvSpPr/>
          <p:nvPr/>
        </p:nvSpPr>
        <p:spPr>
          <a:xfrm>
            <a:off x="68580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ix dot 1 label"/>
          <p:cNvSpPr txBox="1"/>
          <p:nvPr/>
        </p:nvSpPr>
        <p:spPr>
          <a:xfrm>
            <a:off x="6858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Fix head 1"/>
          <p:cNvSpPr txBox="1"/>
          <p:nvPr/>
        </p:nvSpPr>
        <p:spPr>
          <a:xfrm>
            <a:off x="1188720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Embudo</a:t>
            </a:r>
            <a:endParaRPr lang="en-US" sz="1700" dirty="0"/>
          </a:p>
        </p:txBody>
      </p:sp>
      <p:sp>
        <p:nvSpPr>
          <p:cNvPr id="7" name="Fix body 1"/>
          <p:cNvSpPr txBox="1"/>
          <p:nvPr/>
        </p:nvSpPr>
        <p:spPr>
          <a:xfrm>
            <a:off x="685800" y="182880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 botón "Book Now" abría el calendario de citas de Facebook, no la landing.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Esas solicitudes no llegan a GHL.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Corregido el 17 oct en S9, S10 y S11.</a:t>
            </a:r>
            <a:endParaRPr lang="en-US" sz="1200" dirty="0"/>
          </a:p>
        </p:txBody>
      </p:sp>
      <p:sp>
        <p:nvSpPr>
          <p:cNvPr id="8" name="Fix card 2"/>
          <p:cNvSpPr/>
          <p:nvPr/>
        </p:nvSpPr>
        <p:spPr>
          <a:xfrm>
            <a:off x="3264408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ix dot 2"/>
          <p:cNvSpPr/>
          <p:nvPr/>
        </p:nvSpPr>
        <p:spPr>
          <a:xfrm>
            <a:off x="3493008" y="1280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Fix dot 2 label"/>
          <p:cNvSpPr txBox="1"/>
          <p:nvPr/>
        </p:nvSpPr>
        <p:spPr>
          <a:xfrm>
            <a:off x="349300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Fix head 2"/>
          <p:cNvSpPr txBox="1"/>
          <p:nvPr/>
        </p:nvSpPr>
        <p:spPr>
          <a:xfrm>
            <a:off x="3995928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Facebook</a:t>
            </a:r>
            <a:endParaRPr lang="en-US" sz="1700" dirty="0"/>
          </a:p>
        </p:txBody>
      </p:sp>
      <p:sp>
        <p:nvSpPr>
          <p:cNvPr id="12" name="Fix body 2"/>
          <p:cNvSpPr txBox="1"/>
          <p:nvPr/>
        </p:nvSpPr>
        <p:spPr>
          <a:xfrm>
            <a:off x="3493008" y="182880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Categorías: Real Estate, Recruiter y Lawyer &amp; Law Firm.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"Recruiter" le indica a Meta que somos agencia de empleo.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"REAL ESTATE" aparece bajo el anuncio. Pendiente de cambio.</a:t>
            </a:r>
            <a:endParaRPr lang="en-US" sz="1200" dirty="0"/>
          </a:p>
        </p:txBody>
      </p:sp>
      <p:sp>
        <p:nvSpPr>
          <p:cNvPr id="13" name="Fix card 3"/>
          <p:cNvSpPr/>
          <p:nvPr/>
        </p:nvSpPr>
        <p:spPr>
          <a:xfrm>
            <a:off x="6071616" y="1097280"/>
            <a:ext cx="2615184" cy="306324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x dot 3"/>
          <p:cNvSpPr/>
          <p:nvPr/>
        </p:nvSpPr>
        <p:spPr>
          <a:xfrm>
            <a:off x="6300216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ix dot 3 label"/>
          <p:cNvSpPr txBox="1"/>
          <p:nvPr/>
        </p:nvSpPr>
        <p:spPr>
          <a:xfrm>
            <a:off x="6300216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Fix head 3"/>
          <p:cNvSpPr txBox="1"/>
          <p:nvPr/>
        </p:nvSpPr>
        <p:spPr>
          <a:xfrm>
            <a:off x="6803136" y="1280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</a:t>
            </a:r>
            <a:endParaRPr lang="en-US" sz="1700" dirty="0"/>
          </a:p>
        </p:txBody>
      </p:sp>
      <p:sp>
        <p:nvSpPr>
          <p:cNvPr id="17" name="Fix body 3"/>
          <p:cNvSpPr txBox="1"/>
          <p:nvPr/>
        </p:nvSpPr>
        <p:spPr>
          <a:xfrm>
            <a:off x="6300216" y="182880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Meta retiró el interés AILA.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Reemplazado por Bar association.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 el cambio, el conjunto no se habría podido crear.</a:t>
            </a:r>
            <a:endParaRPr lang="en-US" sz="1200" dirty="0"/>
          </a:p>
        </p:txBody>
      </p:sp>
      <p:sp>
        <p:nvSpPr>
          <p:cNvPr id="18" name="Fix note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Revisar Business Suite → Citas: puede haber solicitudes del 16–17 oct hechas por el calendario de Facebook.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Hallazgos</a:t>
            </a:r>
            <a:endParaRPr lang="en-US" sz="3000" dirty="0"/>
          </a:p>
        </p:txBody>
      </p:sp>
      <p:sp>
        <p:nvSpPr>
          <p:cNvPr id="3" name="Learning dot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Learning dot 1 label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earning head 1"/>
          <p:cNvSpPr txBox="1"/>
          <p:nvPr/>
        </p:nvSpPr>
        <p:spPr>
          <a:xfrm>
            <a:off x="1051560" y="105156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segmentación hiperlocal abarata el tráfico calificado.</a:t>
            </a:r>
            <a:endParaRPr lang="en-US" sz="1600" dirty="0"/>
          </a:p>
        </p:txBody>
      </p:sp>
      <p:sp>
        <p:nvSpPr>
          <p:cNvPr id="6" name="Learning body 1"/>
          <p:cNvSpPr txBox="1"/>
          <p:nvPr/>
        </p:nvSpPr>
        <p:spPr>
          <a:xfrm>
            <a:off x="1051560" y="143560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CPM $49 vs. $88 en nacional; costo por visita a la landing $4.66 vs. $6.86.</a:t>
            </a:r>
            <a:endParaRPr lang="en-US" sz="1300" dirty="0"/>
          </a:p>
        </p:txBody>
      </p:sp>
      <p:sp>
        <p:nvSpPr>
          <p:cNvPr id="7" name="Learning dot 2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arning dot 2 label"/>
          <p:cNvSpPr txBox="1"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Learning head 2"/>
          <p:cNvSpPr txBox="1"/>
          <p:nvPr/>
        </p:nvSpPr>
        <p:spPr>
          <a:xfrm>
            <a:off x="1051560" y="194767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Copy dirigido a la firma: 0 buscadores de empleo desde el 16 oct.</a:t>
            </a:r>
            <a:endParaRPr lang="en-US" sz="1600" dirty="0"/>
          </a:p>
        </p:txBody>
      </p:sp>
      <p:sp>
        <p:nvSpPr>
          <p:cNvPr id="10" name="Learning body 2"/>
          <p:cNvSpPr txBox="1"/>
          <p:nvPr/>
        </p:nvSpPr>
        <p:spPr>
          <a:xfrm>
            <a:off x="1051560" y="23317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único lead de la semana (13 oct) vino de V2 y buscaba empleo, igual que los 3 anteriores.</a:t>
            </a:r>
            <a:endParaRPr lang="en-US" sz="1300" dirty="0"/>
          </a:p>
        </p:txBody>
      </p:sp>
      <p:sp>
        <p:nvSpPr>
          <p:cNvPr id="11" name="Learning dot 3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Learning dot 3 label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Learning head 3"/>
          <p:cNvSpPr txBox="1"/>
          <p:nvPr/>
        </p:nvSpPr>
        <p:spPr>
          <a:xfrm>
            <a:off x="1051560" y="284378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51 visitas a la landing sin lead calificado.</a:t>
            </a:r>
            <a:endParaRPr lang="en-US" sz="1600" dirty="0"/>
          </a:p>
        </p:txBody>
      </p:sp>
      <p:sp>
        <p:nvSpPr>
          <p:cNvPr id="14" name="Learning body 3"/>
          <p:cNvSpPr txBox="1"/>
          <p:nvPr/>
        </p:nvSpPr>
        <p:spPr>
          <a:xfrm>
            <a:off x="1051560" y="32278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cuello de botella pasa a la landing y al formulario. Requiere prueba de envío y del evento Lead.</a:t>
            </a:r>
            <a:endParaRPr lang="en-US" sz="1300" dirty="0"/>
          </a:p>
        </p:txBody>
      </p:sp>
      <p:sp>
        <p:nvSpPr>
          <p:cNvPr id="15" name="Learning dot 4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earning dot 4 label"/>
          <p:cNvSpPr txBox="1"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Learning head 4"/>
          <p:cNvSpPr txBox="1"/>
          <p:nvPr/>
        </p:nvSpPr>
        <p:spPr>
          <a:xfrm>
            <a:off x="1051560" y="373989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 de semana caro con audiencia chica.</a:t>
            </a:r>
            <a:endParaRPr lang="en-US" sz="1600" dirty="0"/>
          </a:p>
        </p:txBody>
      </p:sp>
      <p:sp>
        <p:nvSpPr>
          <p:cNvPr id="18" name="Learning body 4"/>
          <p:cNvSpPr txBox="1"/>
          <p:nvPr/>
        </p:nvSpPr>
        <p:spPr>
          <a:xfrm>
            <a:off x="1051560" y="412394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18 oct: $51.69 por 3 clics (CPM $99). S10 absorbió $36 con 1 clic y fue pausado.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activos (hiperlocal)</a:t>
            </a:r>
            <a:endParaRPr lang="en-US" sz="3000" dirty="0"/>
          </a:p>
        </p:txBody>
      </p:sp>
      <p:pic>
        <p:nvPicPr>
          <p:cNvPr id="3" name="Capture 🔵 S11 Immigration Intake Calls" descr="Capture 🔵 S11 Immigration Intake Ca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325950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Active name 1"/>
          <p:cNvSpPr txBox="1"/>
          <p:nvPr/>
        </p:nvSpPr>
        <p:spPr>
          <a:xfrm>
            <a:off x="1920310" y="1097280"/>
            <a:ext cx="1152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🔵 S11 Immigration Intake Calls</a:t>
            </a:r>
            <a:endParaRPr lang="en-US" sz="1300" dirty="0"/>
          </a:p>
        </p:txBody>
      </p:sp>
      <p:sp>
        <p:nvSpPr>
          <p:cNvPr id="5" name="Active nums 1"/>
          <p:cNvSpPr txBox="1"/>
          <p:nvPr/>
        </p:nvSpPr>
        <p:spPr>
          <a:xfrm>
            <a:off x="1920310" y="1783080"/>
            <a:ext cx="11520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$59.64 · 20 clics · 16 visitas</a:t>
            </a:r>
            <a:endParaRPr lang="en-US" sz="1200" dirty="0"/>
          </a:p>
        </p:txBody>
      </p:sp>
      <p:sp>
        <p:nvSpPr>
          <p:cNvPr id="6" name="Active result 1"/>
          <p:cNvSpPr txBox="1"/>
          <p:nvPr/>
        </p:nvSpPr>
        <p:spPr>
          <a:xfrm>
            <a:off x="1920310" y="2514600"/>
            <a:ext cx="115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CPM $36 · 0 leads</a:t>
            </a:r>
            <a:endParaRPr lang="en-US" sz="1200" dirty="0"/>
          </a:p>
        </p:txBody>
      </p:sp>
      <p:pic>
        <p:nvPicPr>
          <p:cNvPr id="7" name="Capture S9 Attorneys In-Person Cost" descr="Capture S9 Attorneys In-Person C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51560"/>
            <a:ext cx="1367977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8" name="Active name 2"/>
          <p:cNvSpPr txBox="1"/>
          <p:nvPr/>
        </p:nvSpPr>
        <p:spPr>
          <a:xfrm>
            <a:off x="4769545" y="109728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S9 Attorneys In-Person Cost</a:t>
            </a:r>
            <a:endParaRPr lang="en-US" sz="1300" dirty="0"/>
          </a:p>
        </p:txBody>
      </p:sp>
      <p:sp>
        <p:nvSpPr>
          <p:cNvPr id="9" name="Active nums 2"/>
          <p:cNvSpPr txBox="1"/>
          <p:nvPr/>
        </p:nvSpPr>
        <p:spPr>
          <a:xfrm>
            <a:off x="4769545" y="1783080"/>
            <a:ext cx="11100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$21.81 · 9 clics · 8 visitas</a:t>
            </a:r>
            <a:endParaRPr lang="en-US" sz="1200" dirty="0"/>
          </a:p>
        </p:txBody>
      </p:sp>
      <p:sp>
        <p:nvSpPr>
          <p:cNvPr id="10" name="Active result 2"/>
          <p:cNvSpPr txBox="1"/>
          <p:nvPr/>
        </p:nvSpPr>
        <p:spPr>
          <a:xfrm>
            <a:off x="4769545" y="2514600"/>
            <a:ext cx="1110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CTR 1.83% · 0 leads</a:t>
            </a:r>
            <a:endParaRPr lang="en-US" sz="1200" dirty="0"/>
          </a:p>
        </p:txBody>
      </p:sp>
      <p:pic>
        <p:nvPicPr>
          <p:cNvPr id="11" name="Capture 🔵 H3 Saturdays Back" descr="Capture 🔵 H3 Saturdays B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051560"/>
            <a:ext cx="1367977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2" name="Active name 3"/>
          <p:cNvSpPr txBox="1"/>
          <p:nvPr/>
        </p:nvSpPr>
        <p:spPr>
          <a:xfrm>
            <a:off x="7576753" y="1097280"/>
            <a:ext cx="11100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🔵 H3 Saturdays Back</a:t>
            </a:r>
            <a:endParaRPr lang="en-US" sz="1300" dirty="0"/>
          </a:p>
        </p:txBody>
      </p:sp>
      <p:sp>
        <p:nvSpPr>
          <p:cNvPr id="13" name="Active nums 3"/>
          <p:cNvSpPr txBox="1"/>
          <p:nvPr/>
        </p:nvSpPr>
        <p:spPr>
          <a:xfrm>
            <a:off x="7576753" y="1783080"/>
            <a:ext cx="11100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Activo desde el 19 oct</a:t>
            </a:r>
            <a:endParaRPr lang="en-US" sz="1200" dirty="0"/>
          </a:p>
        </p:txBody>
      </p:sp>
      <p:sp>
        <p:nvSpPr>
          <p:cNvPr id="14" name="Active result 3"/>
          <p:cNvSpPr txBox="1"/>
          <p:nvPr/>
        </p:nvSpPr>
        <p:spPr>
          <a:xfrm>
            <a:off x="7576753" y="2514600"/>
            <a:ext cx="1110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Reemplaza a S10</a:t>
            </a:r>
            <a:endParaRPr lang="en-US" sz="1200" dirty="0"/>
          </a:p>
        </p:txBody>
      </p:sp>
      <p:sp>
        <p:nvSpPr>
          <p:cNvPr id="15" name="Active note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Cifras 12 – 18 oct. 🔵 = copy escrito por Claude (no el entregado por el equipo). Todos usan solo creativos aprobados de Debi.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pausados esta semana</a:t>
            </a:r>
            <a:endParaRPr lang="en-US" sz="3000" dirty="0"/>
          </a:p>
        </p:txBody>
      </p:sp>
      <p:pic>
        <p:nvPicPr>
          <p:cNvPr id="3" name="Capture V2 Small Law Firm · video" descr="Capture V2 Small Law Firm · 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325950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Paused name 1"/>
          <p:cNvSpPr txBox="1"/>
          <p:nvPr/>
        </p:nvSpPr>
        <p:spPr>
          <a:xfrm>
            <a:off x="1920310" y="1097280"/>
            <a:ext cx="115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V2 Small Law Firm · video</a:t>
            </a:r>
            <a:endParaRPr lang="en-US" sz="1200" dirty="0"/>
          </a:p>
        </p:txBody>
      </p:sp>
      <p:sp>
        <p:nvSpPr>
          <p:cNvPr id="5" name="Paused nums 1"/>
          <p:cNvSpPr txBox="1"/>
          <p:nvPr/>
        </p:nvSpPr>
        <p:spPr>
          <a:xfrm>
            <a:off x="1920310" y="1600200"/>
            <a:ext cx="115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$141.67 · 34 clics</a:t>
            </a:r>
            <a:endParaRPr lang="en-US" sz="1100" dirty="0"/>
          </a:p>
        </p:txBody>
      </p:sp>
      <p:sp>
        <p:nvSpPr>
          <p:cNvPr id="6" name="Paused result 1"/>
          <p:cNvSpPr txBox="1"/>
          <p:nvPr/>
        </p:nvSpPr>
        <p:spPr>
          <a:xfrm>
            <a:off x="1920310" y="2103120"/>
            <a:ext cx="1152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1 lead: buscaba empleo</a:t>
            </a:r>
            <a:endParaRPr lang="en-US" sz="1100" dirty="0"/>
          </a:p>
        </p:txBody>
      </p:sp>
      <p:sp>
        <p:nvSpPr>
          <p:cNvPr id="7" name="Paused why 1"/>
          <p:cNvSpPr txBox="1"/>
          <p:nvPr/>
        </p:nvSpPr>
        <p:spPr>
          <a:xfrm>
            <a:off x="1920310" y="2468880"/>
            <a:ext cx="1152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Pausado con el nacional (16 oct). Asistente en cámara y "19 jobs" en pantalla atraen candidatos.</a:t>
            </a:r>
            <a:endParaRPr lang="en-US" sz="1000" dirty="0"/>
          </a:p>
        </p:txBody>
      </p:sp>
      <p:pic>
        <p:nvPicPr>
          <p:cNvPr id="8" name="Capture S10 Interns Turnover" descr="Capture S10 Interns Turno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51560"/>
            <a:ext cx="1332089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9" name="Paused name 2"/>
          <p:cNvSpPr txBox="1"/>
          <p:nvPr/>
        </p:nvSpPr>
        <p:spPr>
          <a:xfrm>
            <a:off x="4733657" y="1097280"/>
            <a:ext cx="1145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S10 Interns Turnover</a:t>
            </a:r>
            <a:endParaRPr lang="en-US" sz="1200" dirty="0"/>
          </a:p>
        </p:txBody>
      </p:sp>
      <p:sp>
        <p:nvSpPr>
          <p:cNvPr id="10" name="Paused nums 2"/>
          <p:cNvSpPr txBox="1"/>
          <p:nvPr/>
        </p:nvSpPr>
        <p:spPr>
          <a:xfrm>
            <a:off x="4733657" y="1600200"/>
            <a:ext cx="1145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$49.10 · 5 clics · CPM $95</a:t>
            </a:r>
            <a:endParaRPr lang="en-US" sz="1100" dirty="0"/>
          </a:p>
        </p:txBody>
      </p:sp>
      <p:sp>
        <p:nvSpPr>
          <p:cNvPr id="11" name="Paused result 2"/>
          <p:cNvSpPr txBox="1"/>
          <p:nvPr/>
        </p:nvSpPr>
        <p:spPr>
          <a:xfrm>
            <a:off x="4733657" y="2103120"/>
            <a:ext cx="1145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 leads</a:t>
            </a:r>
            <a:endParaRPr lang="en-US" sz="1100" dirty="0"/>
          </a:p>
        </p:txBody>
      </p:sp>
      <p:sp>
        <p:nvSpPr>
          <p:cNvPr id="12" name="Paused why 2"/>
          <p:cNvSpPr txBox="1"/>
          <p:nvPr/>
        </p:nvSpPr>
        <p:spPr>
          <a:xfrm>
            <a:off x="4733657" y="2468880"/>
            <a:ext cx="1145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Pausado el 19 oct: superó el criterio de corte ($40 sin leads).</a:t>
            </a:r>
            <a:endParaRPr lang="en-US" sz="1000" dirty="0"/>
          </a:p>
        </p:txBody>
      </p:sp>
      <p:pic>
        <p:nvPicPr>
          <p:cNvPr id="13" name="Capture S8 Comparison" descr="Capture S8 Comparis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051560"/>
            <a:ext cx="1325950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4" name="Paused name 3"/>
          <p:cNvSpPr txBox="1"/>
          <p:nvPr/>
        </p:nvSpPr>
        <p:spPr>
          <a:xfrm>
            <a:off x="7534726" y="1097280"/>
            <a:ext cx="115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S8 Comparison</a:t>
            </a:r>
            <a:endParaRPr lang="en-US" sz="1200" dirty="0"/>
          </a:p>
        </p:txBody>
      </p:sp>
      <p:sp>
        <p:nvSpPr>
          <p:cNvPr id="15" name="Paused nums 3"/>
          <p:cNvSpPr txBox="1"/>
          <p:nvPr/>
        </p:nvSpPr>
        <p:spPr>
          <a:xfrm>
            <a:off x="7534726" y="1600200"/>
            <a:ext cx="115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$14.19 · 0 clics</a:t>
            </a:r>
            <a:endParaRPr lang="en-US" sz="1100" dirty="0"/>
          </a:p>
        </p:txBody>
      </p:sp>
      <p:sp>
        <p:nvSpPr>
          <p:cNvPr id="16" name="Paused result 3"/>
          <p:cNvSpPr txBox="1"/>
          <p:nvPr/>
        </p:nvSpPr>
        <p:spPr>
          <a:xfrm>
            <a:off x="7534726" y="2103120"/>
            <a:ext cx="1152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 leads</a:t>
            </a:r>
            <a:endParaRPr lang="en-US" sz="1100" dirty="0"/>
          </a:p>
        </p:txBody>
      </p:sp>
      <p:sp>
        <p:nvSpPr>
          <p:cNvPr id="17" name="Paused why 3"/>
          <p:cNvSpPr txBox="1"/>
          <p:nvPr/>
        </p:nvSpPr>
        <p:spPr>
          <a:xfrm>
            <a:off x="7534726" y="2468880"/>
            <a:ext cx="1152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Pausado el 14 oct.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Banca lista: 6 anuncios en pausa</a:t>
            </a:r>
            <a:endParaRPr lang="en-US" sz="3000" dirty="0"/>
          </a:p>
        </p:txBody>
      </p:sp>
      <p:graphicFrame>
        <p:nvGraphicFramePr>
          <p:cNvPr id="11" name="Ben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228600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 (Debi)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Ángulo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Notes Follow-ups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attorneys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Seguimientos pendientes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After-Hours Paperwork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attorneys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Papeleo después de las 7 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Saturdays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attorneys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Abogado que hace de todo · ACTIVO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Spanish-Speaking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depending on interns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que prefieren el español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While In Court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depending on interns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Teléfono mientras estás en audiencia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In-Office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depending on interns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real del personal presencial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4" name="Bench note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cuando un anuncio activo cumpla el criterio de corte, se reemplaza por uno de la banca sin esperar nuevos creativos. Todos llevan 🔵, botón a la landing y cierre "vetted by Orchid" (sin vocabulario de empleo).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Conclusiones: qué funciona y qué no</a:t>
            </a:r>
            <a:endParaRPr lang="en-US" sz="3000" dirty="0"/>
          </a:p>
        </p:txBody>
      </p:sp>
      <p:sp>
        <p:nvSpPr>
          <p:cNvPr id="3" name="Conclusion head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</a:t>
            </a:r>
            <a:endParaRPr lang="en-US" sz="1800" dirty="0"/>
          </a:p>
        </p:txBody>
      </p:sp>
      <p:sp>
        <p:nvSpPr>
          <p:cNvPr id="4" name="Conclusion card 1.1"/>
          <p:cNvSpPr/>
          <p:nvPr/>
        </p:nvSpPr>
        <p:spPr>
          <a:xfrm>
            <a:off x="45720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clusion dot 1.1"/>
          <p:cNvSpPr/>
          <p:nvPr/>
        </p:nvSpPr>
        <p:spPr>
          <a:xfrm>
            <a:off x="594360" y="175564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onclusion title 1.1"/>
          <p:cNvSpPr txBox="1"/>
          <p:nvPr/>
        </p:nvSpPr>
        <p:spPr>
          <a:xfrm>
            <a:off x="91440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Segmentación hiperlocal</a:t>
            </a:r>
            <a:endParaRPr lang="en-US" sz="1300" dirty="0"/>
          </a:p>
        </p:txBody>
      </p:sp>
      <p:sp>
        <p:nvSpPr>
          <p:cNvPr id="7" name="Conclusion body 1.1"/>
          <p:cNvSpPr txBox="1"/>
          <p:nvPr/>
        </p:nvSpPr>
        <p:spPr>
          <a:xfrm>
            <a:off x="91440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CPM −44% y costo por visita −32% frente al nacional.</a:t>
            </a:r>
            <a:endParaRPr lang="en-US" sz="1100" dirty="0"/>
          </a:p>
        </p:txBody>
      </p:sp>
      <p:sp>
        <p:nvSpPr>
          <p:cNvPr id="8" name="Conclusion card 1.2"/>
          <p:cNvSpPr/>
          <p:nvPr/>
        </p:nvSpPr>
        <p:spPr>
          <a:xfrm>
            <a:off x="45720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nclusion dot 1.2"/>
          <p:cNvSpPr/>
          <p:nvPr/>
        </p:nvSpPr>
        <p:spPr>
          <a:xfrm>
            <a:off x="594360" y="253288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onclusion title 1.2"/>
          <p:cNvSpPr txBox="1"/>
          <p:nvPr/>
        </p:nvSpPr>
        <p:spPr>
          <a:xfrm>
            <a:off x="91440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Copy dirigido a la firma</a:t>
            </a:r>
            <a:endParaRPr lang="en-US" sz="1300" dirty="0"/>
          </a:p>
        </p:txBody>
      </p:sp>
      <p:sp>
        <p:nvSpPr>
          <p:cNvPr id="11" name="Conclusion body 1.2"/>
          <p:cNvSpPr txBox="1"/>
          <p:nvPr/>
        </p:nvSpPr>
        <p:spPr>
          <a:xfrm>
            <a:off x="91440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buscadores de empleo desde el lanzamiento del 16 oct.</a:t>
            </a:r>
            <a:endParaRPr lang="en-US" sz="1100" dirty="0"/>
          </a:p>
        </p:txBody>
      </p:sp>
      <p:sp>
        <p:nvSpPr>
          <p:cNvPr id="12" name="Conclusion card 1.3"/>
          <p:cNvSpPr/>
          <p:nvPr/>
        </p:nvSpPr>
        <p:spPr>
          <a:xfrm>
            <a:off x="45720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ion dot 1.3"/>
          <p:cNvSpPr/>
          <p:nvPr/>
        </p:nvSpPr>
        <p:spPr>
          <a:xfrm>
            <a:off x="594360" y="331012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onclusion title 1.3"/>
          <p:cNvSpPr txBox="1"/>
          <p:nvPr/>
        </p:nvSpPr>
        <p:spPr>
          <a:xfrm>
            <a:off x="91440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Volumen creativo</a:t>
            </a:r>
            <a:endParaRPr lang="en-US" sz="1300" dirty="0"/>
          </a:p>
        </p:txBody>
      </p:sp>
      <p:sp>
        <p:nvSpPr>
          <p:cNvPr id="15" name="Conclusion body 1.3"/>
          <p:cNvSpPr txBox="1"/>
          <p:nvPr/>
        </p:nvSpPr>
        <p:spPr>
          <a:xfrm>
            <a:off x="91440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activos + 6 en banca: 9 conceptos, todos con imágenes aprobadas.</a:t>
            </a:r>
            <a:endParaRPr lang="en-US" sz="1100" dirty="0"/>
          </a:p>
        </p:txBody>
      </p:sp>
      <p:sp>
        <p:nvSpPr>
          <p:cNvPr id="16" name="Conclusion card 1.4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onclusion dot 1.4"/>
          <p:cNvSpPr/>
          <p:nvPr/>
        </p:nvSpPr>
        <p:spPr>
          <a:xfrm>
            <a:off x="594360" y="408736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onclusion title 1.4"/>
          <p:cNvSpPr txBox="1"/>
          <p:nvPr/>
        </p:nvSpPr>
        <p:spPr>
          <a:xfrm>
            <a:off x="91440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Medición</a:t>
            </a:r>
            <a:endParaRPr lang="en-US" sz="1300" dirty="0"/>
          </a:p>
        </p:txBody>
      </p:sp>
      <p:sp>
        <p:nvSpPr>
          <p:cNvPr id="19" name="Conclusion body 1.4"/>
          <p:cNvSpPr txBox="1"/>
          <p:nvPr/>
        </p:nvSpPr>
        <p:spPr>
          <a:xfrm>
            <a:off x="91440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Calidad por anuncio en GHL; importaciones de Mailchimp excluidas.</a:t>
            </a:r>
            <a:endParaRPr lang="en-US" sz="1100" dirty="0"/>
          </a:p>
        </p:txBody>
      </p:sp>
      <p:sp>
        <p:nvSpPr>
          <p:cNvPr id="20" name="Conclusion head 2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</a:t>
            </a:r>
            <a:endParaRPr lang="en-US" sz="1800" dirty="0"/>
          </a:p>
        </p:txBody>
      </p:sp>
      <p:sp>
        <p:nvSpPr>
          <p:cNvPr id="21" name="Conclusion card 2.1"/>
          <p:cNvSpPr/>
          <p:nvPr/>
        </p:nvSpPr>
        <p:spPr>
          <a:xfrm>
            <a:off x="466344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nclusion dot 2.1"/>
          <p:cNvSpPr/>
          <p:nvPr/>
        </p:nvSpPr>
        <p:spPr>
          <a:xfrm>
            <a:off x="4800600" y="175564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onclusion title 2.1"/>
          <p:cNvSpPr txBox="1"/>
          <p:nvPr/>
        </p:nvSpPr>
        <p:spPr>
          <a:xfrm>
            <a:off x="512064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Conversión de la landing</a:t>
            </a:r>
            <a:endParaRPr lang="en-US" sz="1300" dirty="0"/>
          </a:p>
        </p:txBody>
      </p:sp>
      <p:sp>
        <p:nvSpPr>
          <p:cNvPr id="24" name="Conclusion body 2.1"/>
          <p:cNvSpPr txBox="1"/>
          <p:nvPr/>
        </p:nvSpPr>
        <p:spPr>
          <a:xfrm>
            <a:off x="512064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51 visitas en la semana, 0 leads calificados.</a:t>
            </a:r>
            <a:endParaRPr lang="en-US" sz="1100" dirty="0"/>
          </a:p>
        </p:txBody>
      </p:sp>
      <p:sp>
        <p:nvSpPr>
          <p:cNvPr id="25" name="Conclusion card 2.2"/>
          <p:cNvSpPr/>
          <p:nvPr/>
        </p:nvSpPr>
        <p:spPr>
          <a:xfrm>
            <a:off x="466344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nclusion dot 2.2"/>
          <p:cNvSpPr/>
          <p:nvPr/>
        </p:nvSpPr>
        <p:spPr>
          <a:xfrm>
            <a:off x="4800600" y="25328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onclusion title 2.2"/>
          <p:cNvSpPr txBox="1"/>
          <p:nvPr/>
        </p:nvSpPr>
        <p:spPr>
          <a:xfrm>
            <a:off x="512064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Señales de empleo fuera del copy</a:t>
            </a:r>
            <a:endParaRPr lang="en-US" sz="1300" dirty="0"/>
          </a:p>
        </p:txBody>
      </p:sp>
      <p:sp>
        <p:nvSpPr>
          <p:cNvPr id="28" name="Conclusion body 2.2"/>
          <p:cNvSpPr txBox="1"/>
          <p:nvPr/>
        </p:nvSpPr>
        <p:spPr>
          <a:xfrm>
            <a:off x="512064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Categoría "Recruiter" y texto en imagen "Hire a part-time experienced professional".</a:t>
            </a:r>
            <a:endParaRPr lang="en-US" sz="1100" dirty="0"/>
          </a:p>
        </p:txBody>
      </p:sp>
      <p:sp>
        <p:nvSpPr>
          <p:cNvPr id="29" name="Conclusion card 2.3"/>
          <p:cNvSpPr/>
          <p:nvPr/>
        </p:nvSpPr>
        <p:spPr>
          <a:xfrm>
            <a:off x="466344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nclusion dot 2.3"/>
          <p:cNvSpPr/>
          <p:nvPr/>
        </p:nvSpPr>
        <p:spPr>
          <a:xfrm>
            <a:off x="4800600" y="331012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Conclusion title 2.3"/>
          <p:cNvSpPr txBox="1"/>
          <p:nvPr/>
        </p:nvSpPr>
        <p:spPr>
          <a:xfrm>
            <a:off x="512064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Fines de semana</a:t>
            </a:r>
            <a:endParaRPr lang="en-US" sz="1300" dirty="0"/>
          </a:p>
        </p:txBody>
      </p:sp>
      <p:sp>
        <p:nvSpPr>
          <p:cNvPr id="32" name="Conclusion body 2.3"/>
          <p:cNvSpPr txBox="1"/>
          <p:nvPr/>
        </p:nvSpPr>
        <p:spPr>
          <a:xfrm>
            <a:off x="512064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18 oct: CPM $99, 3 clics. La audiencia profesional no está activa.</a:t>
            </a:r>
            <a:endParaRPr lang="en-US" sz="1100" dirty="0"/>
          </a:p>
        </p:txBody>
      </p:sp>
      <p:sp>
        <p:nvSpPr>
          <p:cNvPr id="33" name="Conclusion card 2.4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onclusion dot 2.4"/>
          <p:cNvSpPr/>
          <p:nvPr/>
        </p:nvSpPr>
        <p:spPr>
          <a:xfrm>
            <a:off x="4800600" y="408736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Conclusion title 2.4"/>
          <p:cNvSpPr txBox="1"/>
          <p:nvPr/>
        </p:nvSpPr>
        <p:spPr>
          <a:xfrm>
            <a:off x="512064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Ediciones frecuentes</a:t>
            </a:r>
            <a:endParaRPr lang="en-US" sz="1300" dirty="0"/>
          </a:p>
        </p:txBody>
      </p:sp>
      <p:sp>
        <p:nvSpPr>
          <p:cNvPr id="36" name="Conclusion body 2.4"/>
          <p:cNvSpPr txBox="1"/>
          <p:nvPr/>
        </p:nvSpPr>
        <p:spPr>
          <a:xfrm>
            <a:off x="512064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cambios de creativo en 3 días reiniciaron el aprendizaje de Meta.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Andromeda: el creativo define la audiencia</a:t>
            </a:r>
            <a:endParaRPr lang="en-US" sz="3000" dirty="0"/>
          </a:p>
        </p:txBody>
      </p:sp>
      <p:sp>
        <p:nvSpPr>
          <p:cNvPr id="3" name="Andromeda dot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dromeda dot 1 label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Andromeda head 1"/>
          <p:cNvSpPr txBox="1"/>
          <p:nvPr/>
        </p:nvSpPr>
        <p:spPr>
          <a:xfrm>
            <a:off x="1005840" y="1097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Lee todo el anuncio, no solo el copy</a:t>
            </a:r>
            <a:endParaRPr lang="en-US" sz="1600" dirty="0"/>
          </a:p>
        </p:txBody>
      </p:sp>
      <p:sp>
        <p:nvSpPr>
          <p:cNvPr id="6" name="Andromeda body 1"/>
          <p:cNvSpPr txBox="1"/>
          <p:nvPr/>
        </p:nvSpPr>
        <p:spPr>
          <a:xfrm>
            <a:off x="1005840" y="14630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Texto en imagen, página y categoría también son señales. "Recruiter" y "Hire a part-time professional" apuntan a candidatos.</a:t>
            </a:r>
            <a:endParaRPr lang="en-US" sz="1200" dirty="0"/>
          </a:p>
        </p:txBody>
      </p:sp>
      <p:sp>
        <p:nvSpPr>
          <p:cNvPr id="7" name="Andromeda dot 2"/>
          <p:cNvSpPr/>
          <p:nvPr/>
        </p:nvSpPr>
        <p:spPr>
          <a:xfrm>
            <a:off x="457200" y="21396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ndromeda dot 2 label"/>
          <p:cNvSpPr txBox="1"/>
          <p:nvPr/>
        </p:nvSpPr>
        <p:spPr>
          <a:xfrm>
            <a:off x="4572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ndromeda head 2"/>
          <p:cNvSpPr txBox="1"/>
          <p:nvPr/>
        </p:nvSpPr>
        <p:spPr>
          <a:xfrm>
            <a:off x="1005840" y="2121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Imágenes repetidas = un solo concepto</a:t>
            </a:r>
            <a:endParaRPr lang="en-US" sz="1600" dirty="0"/>
          </a:p>
        </p:txBody>
      </p:sp>
      <p:sp>
        <p:nvSpPr>
          <p:cNvPr id="10" name="Andromeda body 2"/>
          <p:cNvSpPr txBox="1"/>
          <p:nvPr/>
        </p:nvSpPr>
        <p:spPr>
          <a:xfrm>
            <a:off x="1005840" y="2487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separaron las imágenes entre S10 y S11 para que Meta los trate como conceptos distintos.</a:t>
            </a:r>
            <a:endParaRPr lang="en-US" sz="1200" dirty="0"/>
          </a:p>
        </p:txBody>
      </p:sp>
      <p:sp>
        <p:nvSpPr>
          <p:cNvPr id="11" name="Andromeda dot 3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ndromeda dot 3 label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Andromeda head 3"/>
          <p:cNvSpPr txBox="1"/>
          <p:nvPr/>
        </p:nvSpPr>
        <p:spPr>
          <a:xfrm>
            <a:off x="1005840" y="3145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Diversidad = exploración</a:t>
            </a:r>
            <a:endParaRPr lang="en-US" sz="1600" dirty="0"/>
          </a:p>
        </p:txBody>
      </p:sp>
      <p:sp>
        <p:nvSpPr>
          <p:cNvPr id="14" name="Andromeda body 3"/>
          <p:cNvSpPr txBox="1"/>
          <p:nvPr/>
        </p:nvSpPr>
        <p:spPr>
          <a:xfrm>
            <a:off x="1005840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ángulo nuevo (llamadas, papeleo, sábados, costo) abre un público distinto dentro del mismo segmento.</a:t>
            </a:r>
            <a:endParaRPr lang="en-US" sz="1200" dirty="0"/>
          </a:p>
        </p:txBody>
      </p:sp>
      <p:sp>
        <p:nvSpPr>
          <p:cNvPr id="15" name="Creative gap card"/>
          <p:cNvSpPr/>
          <p:nvPr/>
        </p:nvSpPr>
        <p:spPr>
          <a:xfrm>
            <a:off x="5852160" y="1097280"/>
            <a:ext cx="2834640" cy="30632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Gap label 1"/>
          <p:cNvSpPr txBox="1"/>
          <p:nvPr/>
        </p:nvSpPr>
        <p:spPr>
          <a:xfrm>
            <a:off x="60807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Semana anterior</a:t>
            </a:r>
            <a:endParaRPr lang="en-US" sz="1200" dirty="0"/>
          </a:p>
        </p:txBody>
      </p:sp>
      <p:sp>
        <p:nvSpPr>
          <p:cNvPr id="17" name="Gap before"/>
          <p:cNvSpPr txBox="1"/>
          <p:nvPr/>
        </p:nvSpPr>
        <p:spPr>
          <a:xfrm>
            <a:off x="60807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Gap before label"/>
          <p:cNvSpPr txBox="1"/>
          <p:nvPr/>
        </p:nvSpPr>
        <p:spPr>
          <a:xfrm>
            <a:off x="60807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creativos activos</a:t>
            </a:r>
            <a:endParaRPr lang="en-US" sz="1200" dirty="0"/>
          </a:p>
        </p:txBody>
      </p:sp>
      <p:sp>
        <p:nvSpPr>
          <p:cNvPr id="19" name="Gap label 2"/>
          <p:cNvSpPr txBox="1"/>
          <p:nvPr/>
        </p:nvSpPr>
        <p:spPr>
          <a:xfrm>
            <a:off x="60807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Hoy</a:t>
            </a:r>
            <a:endParaRPr lang="en-US" sz="1200" dirty="0"/>
          </a:p>
        </p:txBody>
      </p:sp>
      <p:sp>
        <p:nvSpPr>
          <p:cNvPr id="20" name="Gap now"/>
          <p:cNvSpPr txBox="1"/>
          <p:nvPr/>
        </p:nvSpPr>
        <p:spPr>
          <a:xfrm>
            <a:off x="608076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21" name="Gap now label"/>
          <p:cNvSpPr txBox="1"/>
          <p:nvPr/>
        </p:nvSpPr>
        <p:spPr>
          <a:xfrm>
            <a:off x="60807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conceptos (3 activos + 6 en banca)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 · 19 – 25 oct</a:t>
            </a:r>
            <a:endParaRPr lang="en-US" sz="3000" dirty="0"/>
          </a:p>
        </p:txBody>
      </p:sp>
      <p:sp>
        <p:nvSpPr>
          <p:cNvPr id="3" name="Plan card 1"/>
          <p:cNvSpPr/>
          <p:nvPr/>
        </p:nvSpPr>
        <p:spPr>
          <a:xfrm>
            <a:off x="457200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 dot 1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lan dot 1 label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lan head 1"/>
          <p:cNvSpPr txBox="1"/>
          <p:nvPr/>
        </p:nvSpPr>
        <p:spPr>
          <a:xfrm>
            <a:off x="6858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la conversión</a:t>
            </a:r>
            <a:endParaRPr lang="en-US" sz="1700" dirty="0"/>
          </a:p>
        </p:txBody>
      </p:sp>
      <p:sp>
        <p:nvSpPr>
          <p:cNvPr id="7" name="Plan body 1"/>
          <p:cNvSpPr txBox="1"/>
          <p:nvPr/>
        </p:nvSpPr>
        <p:spPr>
          <a:xfrm>
            <a:off x="68580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Envío de prueba del formulario desde el celular. Verificar que llegue a GHL y que Meta registre el evento Lead.</a:t>
            </a:r>
            <a:endParaRPr lang="en-US" sz="1300" dirty="0"/>
          </a:p>
        </p:txBody>
      </p:sp>
      <p:sp>
        <p:nvSpPr>
          <p:cNvPr id="8" name="Plan card 2"/>
          <p:cNvSpPr/>
          <p:nvPr/>
        </p:nvSpPr>
        <p:spPr>
          <a:xfrm>
            <a:off x="3264408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lan dot 2"/>
          <p:cNvSpPr/>
          <p:nvPr/>
        </p:nvSpPr>
        <p:spPr>
          <a:xfrm>
            <a:off x="3493008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lan dot 2 label"/>
          <p:cNvSpPr txBox="1"/>
          <p:nvPr/>
        </p:nvSpPr>
        <p:spPr>
          <a:xfrm>
            <a:off x="34930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lan head 2"/>
          <p:cNvSpPr txBox="1"/>
          <p:nvPr/>
        </p:nvSpPr>
        <p:spPr>
          <a:xfrm>
            <a:off x="3493008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miércoles 21</a:t>
            </a:r>
            <a:endParaRPr lang="en-US" sz="1700" dirty="0"/>
          </a:p>
        </p:txBody>
      </p:sp>
      <p:sp>
        <p:nvSpPr>
          <p:cNvPr id="12" name="Plan body 2"/>
          <p:cNvSpPr txBox="1"/>
          <p:nvPr/>
        </p:nvSpPr>
        <p:spPr>
          <a:xfrm>
            <a:off x="3493008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Criterio de corte: $40 sin lead. Rotación desde la banca (H5, H4). Sin otros cambios hasta entonces.</a:t>
            </a:r>
            <a:endParaRPr lang="en-US" sz="1300" dirty="0"/>
          </a:p>
        </p:txBody>
      </p:sp>
      <p:sp>
        <p:nvSpPr>
          <p:cNvPr id="13" name="Plan card 3"/>
          <p:cNvSpPr/>
          <p:nvPr/>
        </p:nvSpPr>
        <p:spPr>
          <a:xfrm>
            <a:off x="6071616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 dot 3"/>
          <p:cNvSpPr/>
          <p:nvPr/>
        </p:nvSpPr>
        <p:spPr>
          <a:xfrm>
            <a:off x="6300216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lan dot 3 label"/>
          <p:cNvSpPr txBox="1"/>
          <p:nvPr/>
        </p:nvSpPr>
        <p:spPr>
          <a:xfrm>
            <a:off x="63002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lan head 3"/>
          <p:cNvSpPr txBox="1"/>
          <p:nvPr/>
        </p:nvSpPr>
        <p:spPr>
          <a:xfrm>
            <a:off x="6300216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Creativos y página</a:t>
            </a:r>
            <a:endParaRPr lang="en-US" sz="1700" dirty="0"/>
          </a:p>
        </p:txBody>
      </p:sp>
      <p:sp>
        <p:nvSpPr>
          <p:cNvPr id="17" name="Plan body 3"/>
          <p:cNvSpPr txBox="1"/>
          <p:nvPr/>
        </p:nvSpPr>
        <p:spPr>
          <a:xfrm>
            <a:off x="6300216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Cambio de categorías de la página. Pedir a Debi texto en imagen desde la firma y versiones 9:16.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Decisiones requeridas</a:t>
            </a:r>
            <a:endParaRPr lang="en-US" sz="3000" dirty="0"/>
          </a:p>
        </p:txBody>
      </p:sp>
      <p:sp>
        <p:nvSpPr>
          <p:cNvPr id="3" name="Decision box 1"/>
          <p:cNvSpPr/>
          <p:nvPr/>
        </p:nvSpPr>
        <p:spPr>
          <a:xfrm>
            <a:off x="457200" y="1188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Decision head 1"/>
          <p:cNvSpPr txBox="1"/>
          <p:nvPr/>
        </p:nvSpPr>
        <p:spPr>
          <a:xfrm>
            <a:off x="100584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Categorías de la página de Facebook</a:t>
            </a:r>
            <a:endParaRPr lang="en-US" sz="1800" dirty="0"/>
          </a:p>
        </p:txBody>
      </p:sp>
      <p:sp>
        <p:nvSpPr>
          <p:cNvPr id="5" name="Decision body 1"/>
          <p:cNvSpPr txBox="1"/>
          <p:nvPr/>
        </p:nvSpPr>
        <p:spPr>
          <a:xfrm>
            <a:off x="1005840" y="1572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Quitar Recruiter, Real Estate y Lawyer &amp; Law Firm; dejar Business Service / Consulting Agency. Requiere un administrador.</a:t>
            </a:r>
            <a:endParaRPr lang="en-US" sz="1400" dirty="0"/>
          </a:p>
        </p:txBody>
      </p:sp>
      <p:sp>
        <p:nvSpPr>
          <p:cNvPr id="6" name="Decision box 2"/>
          <p:cNvSpPr/>
          <p:nvPr/>
        </p:nvSpPr>
        <p:spPr>
          <a:xfrm>
            <a:off x="457200" y="2331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Decision head 2"/>
          <p:cNvSpPr txBox="1"/>
          <p:nvPr/>
        </p:nvSpPr>
        <p:spPr>
          <a:xfrm>
            <a:off x="100584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Pausar fines de semana</a:t>
            </a:r>
            <a:endParaRPr lang="en-US" sz="1800" dirty="0"/>
          </a:p>
        </p:txBody>
      </p:sp>
      <p:sp>
        <p:nvSpPr>
          <p:cNvPr id="8" name="Decision body 2"/>
          <p:cNvSpPr txBox="1"/>
          <p:nvPr/>
        </p:nvSpPr>
        <p:spPr>
          <a:xfrm>
            <a:off x="1005840" y="2715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Aprobar el cambio a presupuesto total con horario (lunes a viernes) si el patrón de CPM alto se repite.</a:t>
            </a:r>
            <a:endParaRPr lang="en-US" sz="1400" dirty="0"/>
          </a:p>
        </p:txBody>
      </p:sp>
      <p:sp>
        <p:nvSpPr>
          <p:cNvPr id="9" name="Decision box 3"/>
          <p:cNvSpPr/>
          <p:nvPr/>
        </p:nvSpPr>
        <p:spPr>
          <a:xfrm>
            <a:off x="457200" y="3474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Decision head 3"/>
          <p:cNvSpPr txBox="1"/>
          <p:nvPr/>
        </p:nvSpPr>
        <p:spPr>
          <a:xfrm>
            <a:off x="100584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Pendientes de la semana anterior</a:t>
            </a:r>
            <a:endParaRPr lang="en-US" sz="1800" dirty="0"/>
          </a:p>
        </p:txBody>
      </p:sp>
      <p:sp>
        <p:nvSpPr>
          <p:cNvPr id="11" name="Decision body 3"/>
          <p:cNvSpPr txBox="1"/>
          <p:nvPr/>
        </p:nvSpPr>
        <p:spPr>
          <a:xfrm>
            <a:off x="1005840" y="3858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CPL calificado objetivo y envío del evento Lead vía CAPI solo para "I want to hire.".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chid">
  <a:themeElements>
    <a:clrScheme name="Orchid">
      <a:dk1>
        <a:srgbClr val="1F1235"/>
      </a:dk1>
      <a:lt1>
        <a:srgbClr val="FFFFFF"/>
      </a:lt1>
      <a:dk2>
        <a:srgbClr val="3B1C78"/>
      </a:dk2>
      <a:lt2>
        <a:srgbClr val="F3F0FA"/>
      </a:lt2>
      <a:accent1>
        <a:srgbClr val="F6C343"/>
      </a:accent1>
      <a:accent2>
        <a:srgbClr val="3B1C78"/>
      </a:accent2>
      <a:accent3>
        <a:srgbClr val="8B6FD1"/>
      </a:accent3>
      <a:accent4>
        <a:srgbClr val="2E8B5E"/>
      </a:accent4>
      <a:accent5>
        <a:srgbClr val="C8463A"/>
      </a:accent5>
      <a:accent6>
        <a:srgbClr val="6B6680"/>
      </a:accent6>
      <a:hlink>
        <a:srgbClr val="3B1C78"/>
      </a:hlink>
      <a:folHlink>
        <a:srgbClr val="8B6FD1"/>
      </a:folHlink>
    </a:clrScheme>
    <a:fontScheme name="Orch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Meta Ads Orchid – Semana del 12 al 18 oct</dc:title>
  <dc:subject>PptxGenJS Presentation</dc:subject>
  <dc:creator>Orchid</dc:creator>
  <cp:lastModifiedBy>Orchid</cp:lastModifiedBy>
  <cp:revision>1</cp:revision>
  <dcterms:created xsi:type="dcterms:W3CDTF">2026-10-20T00:57:48Z</dcterms:created>
  <dcterms:modified xsi:type="dcterms:W3CDTF">2026-10-20T00:57:48Z</dcterms:modified>
</cp:coreProperties>
</file>