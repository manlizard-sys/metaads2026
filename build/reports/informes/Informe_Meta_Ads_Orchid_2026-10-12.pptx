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men" id="{765464df-ac27-9c9e-f64d-4cbb2f9cf899}">
          <p14:sldIdLst>
            <p14:sldId id="256"/>
            <p14:sldId id="257"/>
          </p14:sldIdLst>
        </p14:section>
        <p14:section name="Resultados" id="{029e079f-9926-7554-a210-69061ed23bb4}">
          <p14:sldIdLst>
            <p14:sldId id="258"/>
            <p14:sldId id="259"/>
          </p14:sldIdLst>
        </p14:section>
        <p14:section name="Qué hicimos" id="{f8f72467-dbee-bc9f-af92-a76ae057d15f}">
          <p14:sldIdLst>
            <p14:sldId id="260"/>
            <p14:sldId id="261"/>
          </p14:sldIdLst>
        </p14:section>
        <p14:section name="Aprendizajes" id="{d34b9754-f943-b75c-dcb8-be1011817d95}">
          <p14:sldIdLst>
            <p14:sldId id="262"/>
          </p14:sldIdLst>
        </p14:section>
        <p14:section name="Anuncios" id="{c0f33074-4b7e-fe65-4f94-0c23948f03e8}">
          <p14:sldIdLst>
            <p14:sldId id="263"/>
            <p14:sldId id="264"/>
            <p14:sldId id="265"/>
          </p14:sldIdLst>
        </p14:section>
        <p14:section name="Conclusiones" id="{a04ced2c-26e1-e8f3-4575-df758f99f0a0}">
          <p14:sldIdLst>
            <p14:sldId id="266"/>
          </p14:sldIdLst>
        </p14:section>
        <p14:section name="Estrategia creativa" id="{941135be-87d1-a5d0-4d54-e28aef9b3f50}">
          <p14:sldIdLst>
            <p14:sldId id="267"/>
            <p14:sldId id="268"/>
          </p14:sldIdLst>
        </p14:section>
        <p14:section name="Próximos pasos" id="{13afc691-e0c5-fe7b-048d-d8e379ef58ff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Clics en el enlace</c:v>
                </c:pt>
              </c:strCache>
            </c:strRef>
          </c:tx>
          <c:spPr>
            <a:solidFill>
              <a:srgbClr val="3B1C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2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Semana 1 · 28 sep – 4 oct</c:v>
                  </c:pt>
                  <c:pt idx="1">
                    <c:v>Semana 2 · 5 – 11 oct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183</c:v>
                </c:pt>
                <c:pt idx="1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Landing page views</c:v>
                </c:pt>
              </c:strCache>
            </c:strRef>
          </c:tx>
          <c:spPr>
            <a:solidFill>
              <a:srgbClr val="8B6F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2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Semana 1 · 28 sep – 4 oct</c:v>
                  </c:pt>
                  <c:pt idx="1">
                    <c:v>Semana 2 · 5 – 11 oct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145</c:v>
                </c:pt>
                <c:pt idx="1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12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6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6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463A"/>
              </a:solidFill>
              <a:effectLst/>
            </c:spPr>
          </c:dPt>
          <c:dPt>
            <c:idx val="1"/>
            <c:bubble3D val="0"/>
            <c:spPr>
              <a:solidFill>
                <a:srgbClr val="2E8B5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calificado (busca empleo)</c:v>
                </c:pt>
                <c:pt idx="1">
                  <c:v>Calificado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6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Desempeño de la campaña Leads – Hire VA, semanas 1 y 2: resultados, calidad de leads, cambios, hallazgos y decisiones 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lead calificado en 2 semanas. Causa identificada (reasignación de presupuesto a S3) y corregida el 12 oct.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Semana 2: CTR 6.46% → 2.21%, CPM $74.49 → $115.40, 0 leads calificados.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campo 'Hiring or job seeking' es el único filtro confiable; las demás respuestas de los no calificados son inconsistentes. KPI: lead calificado en GHL.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oct: se pausó V2, único anuncio con lead calificado. Motivo no documentado.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Formulario de GHL simplificado el mismo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Advantage+ Audience asignaba gasto fuera del rango 30–65; desactivado.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previa en feed móvil con el copy vigente desde el 12 oct.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 leads calificados entre ambos.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leads. S6 pausado: el hook 'What does a Virtual Assistant do?' también atrae candidatos.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Prioridad: aumentar volumen y diversidad creativa por segmento, y optimizar por lead calificado en lugar del evento Lead genérico.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volumen recomendado (8–10 conceptos) es un rango operativo, no una cifra oficial de Meta. La clave es que cada concepto sea realmente distinto: segmento, ángulo o formato.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Prioridad de producción: conceptos 1, 3 y 6. Los conceptos 4 y 5 pueden reutilizar S8 y S1 con el hook corregido.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 reporte: lunes 19 oct (semana 12–18 oct).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Insumos necesarios para fijar metas de las próximas semanas.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Orchid · Informe Meta Ads · 29 sep – 11 oct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Informe Meta Ads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Periodo: 29 sep – 11 oct 2026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Reporte de desempeño · Dirección de Orchid · 12 oct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Resumen ejecutivo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43000"/>
            <a:ext cx="261518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1"/>
          <p:cNvSpPr txBox="1"/>
          <p:nvPr/>
        </p:nvSpPr>
        <p:spPr>
          <a:xfrm>
            <a:off x="685800" y="1325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$487.54</a:t>
            </a:r>
            <a:endParaRPr lang="en-US" sz="4400" dirty="0"/>
          </a:p>
        </p:txBody>
      </p:sp>
      <p:sp>
        <p:nvSpPr>
          <p:cNvPr id="5" name="Stat label 1"/>
          <p:cNvSpPr txBox="1"/>
          <p:nvPr/>
        </p:nvSpPr>
        <p:spPr>
          <a:xfrm>
            <a:off x="68580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Inversión</a:t>
            </a:r>
            <a:endParaRPr lang="en-US" sz="1500" dirty="0"/>
          </a:p>
        </p:txBody>
      </p:sp>
      <p:sp>
        <p:nvSpPr>
          <p:cNvPr id="6" name="Stat note 1"/>
          <p:cNvSpPr txBox="1"/>
          <p:nvPr/>
        </p:nvSpPr>
        <p:spPr>
          <a:xfrm>
            <a:off x="68580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29 sep – 11 oct</a:t>
            </a:r>
            <a:endParaRPr lang="en-US" sz="1100" dirty="0"/>
          </a:p>
        </p:txBody>
      </p:sp>
      <p:sp>
        <p:nvSpPr>
          <p:cNvPr id="7" name="Stat card 2"/>
          <p:cNvSpPr/>
          <p:nvPr/>
        </p:nvSpPr>
        <p:spPr>
          <a:xfrm>
            <a:off x="3264408" y="1143000"/>
            <a:ext cx="261518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2"/>
          <p:cNvSpPr txBox="1"/>
          <p:nvPr/>
        </p:nvSpPr>
        <p:spPr>
          <a:xfrm>
            <a:off x="3493008" y="1325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Stat label 2"/>
          <p:cNvSpPr txBox="1"/>
          <p:nvPr/>
        </p:nvSpPr>
        <p:spPr>
          <a:xfrm>
            <a:off x="3493008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Lead calificado</a:t>
            </a:r>
            <a:endParaRPr lang="en-US" sz="1500" dirty="0"/>
          </a:p>
        </p:txBody>
      </p:sp>
      <p:sp>
        <p:nvSpPr>
          <p:cNvPr id="10" name="Stat note 2"/>
          <p:cNvSpPr txBox="1"/>
          <p:nvPr/>
        </p:nvSpPr>
        <p:spPr>
          <a:xfrm>
            <a:off x="3493008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V2 · llamada agendada</a:t>
            </a:r>
            <a:endParaRPr lang="en-US" sz="1100" dirty="0"/>
          </a:p>
        </p:txBody>
      </p:sp>
      <p:sp>
        <p:nvSpPr>
          <p:cNvPr id="11" name="Stat card 3"/>
          <p:cNvSpPr/>
          <p:nvPr/>
        </p:nvSpPr>
        <p:spPr>
          <a:xfrm>
            <a:off x="6071616" y="1143000"/>
            <a:ext cx="261518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 3"/>
          <p:cNvSpPr txBox="1"/>
          <p:nvPr/>
        </p:nvSpPr>
        <p:spPr>
          <a:xfrm>
            <a:off x="6300216" y="1325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$487.54</a:t>
            </a:r>
            <a:endParaRPr lang="en-US" sz="4400" dirty="0"/>
          </a:p>
        </p:txBody>
      </p:sp>
      <p:sp>
        <p:nvSpPr>
          <p:cNvPr id="13" name="Stat label 3"/>
          <p:cNvSpPr txBox="1"/>
          <p:nvPr/>
        </p:nvSpPr>
        <p:spPr>
          <a:xfrm>
            <a:off x="6300216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CPL calificado</a:t>
            </a:r>
            <a:endParaRPr lang="en-US" sz="1500" dirty="0"/>
          </a:p>
        </p:txBody>
      </p:sp>
      <p:sp>
        <p:nvSpPr>
          <p:cNvPr id="14" name="Stat note 3"/>
          <p:cNvSpPr txBox="1"/>
          <p:nvPr/>
        </p:nvSpPr>
        <p:spPr>
          <a:xfrm>
            <a:off x="6300216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Inversión ÷ leads calificados</a:t>
            </a:r>
            <a:endParaRPr lang="en-US" sz="1100" dirty="0"/>
          </a:p>
        </p:txBody>
      </p:sp>
      <p:sp>
        <p:nvSpPr>
          <p:cNvPr id="15" name="Summary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Semana 1: delivery concentrado en V2 (82% del gasto).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Semana 2: el algoritmo reasignó el 75% del gasto a S3 (estático), con tráfico de baja intención y 0 leads calificados. Ajustes de segmentación, creativos y copy aplicados el 12 oct.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Semana 2: −71% en clics con +31% de inversión</a:t>
            </a:r>
            <a:endParaRPr lang="en-US" sz="3000" dirty="0"/>
          </a:p>
        </p:txBody>
      </p:sp>
      <p:graphicFrame>
        <p:nvGraphicFramePr>
          <p:cNvPr id="3" name="Clicks chart" descr=""/>
          <p:cNvGraphicFramePr/>
          <p:nvPr/>
        </p:nvGraphicFramePr>
        <p:xfrm>
          <a:off x="365760" y="1051560"/>
          <a:ext cx="42062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Wee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43000"/>
          <a:ext cx="3840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$211.04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$276.50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 (enlace)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(Meta)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calificados (GHL)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8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8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no calificados (GHL)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4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</a:tbl>
          </a:graphicData>
        </a:graphic>
      </p:graphicFrame>
      <p:sp>
        <p:nvSpPr>
          <p:cNvPr id="5" name="Week note"/>
          <p:cNvSpPr txBox="1"/>
          <p:nvPr/>
        </p:nvSpPr>
        <p:spPr>
          <a:xfrm>
            <a:off x="484632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Semana 1: 6 días de delivery (inicio 29 sep).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Calidad de leads: 75% no calificados</a:t>
            </a:r>
            <a:endParaRPr lang="en-US" sz="3000" dirty="0"/>
          </a:p>
        </p:txBody>
      </p:sp>
      <p:graphicFrame>
        <p:nvGraphicFramePr>
          <p:cNvPr id="3" name="Lead quality chart" descr=""/>
          <p:cNvGraphicFramePr/>
          <p:nvPr/>
        </p:nvGraphicFramePr>
        <p:xfrm>
          <a:off x="365760" y="1051560"/>
          <a:ext cx="3200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ad row 1"/>
          <p:cNvSpPr/>
          <p:nvPr/>
        </p:nvSpPr>
        <p:spPr>
          <a:xfrm>
            <a:off x="3840480" y="1143000"/>
            <a:ext cx="484632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ead date 1"/>
          <p:cNvSpPr txBox="1"/>
          <p:nvPr/>
        </p:nvSpPr>
        <p:spPr>
          <a:xfrm>
            <a:off x="3977640" y="11430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 oct</a:t>
            </a:r>
            <a:endParaRPr lang="en-US" sz="1200" dirty="0"/>
          </a:p>
        </p:txBody>
      </p:sp>
      <p:sp>
        <p:nvSpPr>
          <p:cNvPr id="6" name="Lead ad 1"/>
          <p:cNvSpPr txBox="1"/>
          <p:nvPr/>
        </p:nvSpPr>
        <p:spPr>
          <a:xfrm>
            <a:off x="4617720" y="114300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V2 Small Law Firm · video</a:t>
            </a:r>
            <a:endParaRPr lang="en-US" sz="1200" dirty="0"/>
          </a:p>
        </p:txBody>
      </p:sp>
      <p:sp>
        <p:nvSpPr>
          <p:cNvPr id="7" name="Lead result 1"/>
          <p:cNvSpPr txBox="1"/>
          <p:nvPr/>
        </p:nvSpPr>
        <p:spPr>
          <a:xfrm>
            <a:off x="6858000" y="1143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Calificado · agendado</a:t>
            </a:r>
            <a:endParaRPr lang="en-US" sz="1200" dirty="0"/>
          </a:p>
        </p:txBody>
      </p:sp>
      <p:sp>
        <p:nvSpPr>
          <p:cNvPr id="8" name="Lead row 2"/>
          <p:cNvSpPr/>
          <p:nvPr/>
        </p:nvSpPr>
        <p:spPr>
          <a:xfrm>
            <a:off x="3840480" y="1709928"/>
            <a:ext cx="484632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ead date 2"/>
          <p:cNvSpPr txBox="1"/>
          <p:nvPr/>
        </p:nvSpPr>
        <p:spPr>
          <a:xfrm>
            <a:off x="3977640" y="170992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5 oct</a:t>
            </a:r>
            <a:endParaRPr lang="en-US" sz="1200" dirty="0"/>
          </a:p>
        </p:txBody>
      </p:sp>
      <p:sp>
        <p:nvSpPr>
          <p:cNvPr id="10" name="Lead ad 2"/>
          <p:cNvSpPr txBox="1"/>
          <p:nvPr/>
        </p:nvSpPr>
        <p:spPr>
          <a:xfrm>
            <a:off x="4617720" y="17099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C2 Hey You Offer · carrusel</a:t>
            </a:r>
            <a:endParaRPr lang="en-US" sz="1200" dirty="0"/>
          </a:p>
        </p:txBody>
      </p:sp>
      <p:sp>
        <p:nvSpPr>
          <p:cNvPr id="11" name="Lead result 2"/>
          <p:cNvSpPr txBox="1"/>
          <p:nvPr/>
        </p:nvSpPr>
        <p:spPr>
          <a:xfrm>
            <a:off x="6858000" y="17099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No calificado</a:t>
            </a:r>
            <a:endParaRPr lang="en-US" sz="1200" dirty="0"/>
          </a:p>
        </p:txBody>
      </p:sp>
      <p:sp>
        <p:nvSpPr>
          <p:cNvPr id="12" name="Lead row 3"/>
          <p:cNvSpPr/>
          <p:nvPr/>
        </p:nvSpPr>
        <p:spPr>
          <a:xfrm>
            <a:off x="3840480" y="2276856"/>
            <a:ext cx="484632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Lead date 3"/>
          <p:cNvSpPr txBox="1"/>
          <p:nvPr/>
        </p:nvSpPr>
        <p:spPr>
          <a:xfrm>
            <a:off x="3977640" y="227685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8 oct</a:t>
            </a:r>
            <a:endParaRPr lang="en-US" sz="1200" dirty="0"/>
          </a:p>
        </p:txBody>
      </p:sp>
      <p:sp>
        <p:nvSpPr>
          <p:cNvPr id="14" name="Lead ad 3"/>
          <p:cNvSpPr txBox="1"/>
          <p:nvPr/>
        </p:nvSpPr>
        <p:spPr>
          <a:xfrm>
            <a:off x="4617720" y="227685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S3 Vetting · estático</a:t>
            </a:r>
            <a:endParaRPr lang="en-US" sz="1200" dirty="0"/>
          </a:p>
        </p:txBody>
      </p:sp>
      <p:sp>
        <p:nvSpPr>
          <p:cNvPr id="15" name="Lead result 3"/>
          <p:cNvSpPr txBox="1"/>
          <p:nvPr/>
        </p:nvSpPr>
        <p:spPr>
          <a:xfrm>
            <a:off x="6858000" y="22768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No calificado</a:t>
            </a:r>
            <a:endParaRPr lang="en-US" sz="1200" dirty="0"/>
          </a:p>
        </p:txBody>
      </p:sp>
      <p:sp>
        <p:nvSpPr>
          <p:cNvPr id="16" name="Lead row 4"/>
          <p:cNvSpPr/>
          <p:nvPr/>
        </p:nvSpPr>
        <p:spPr>
          <a:xfrm>
            <a:off x="3840480" y="2843784"/>
            <a:ext cx="484632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Lead date 4"/>
          <p:cNvSpPr txBox="1"/>
          <p:nvPr/>
        </p:nvSpPr>
        <p:spPr>
          <a:xfrm>
            <a:off x="3977640" y="284378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11 oct</a:t>
            </a:r>
            <a:endParaRPr lang="en-US" sz="1200" dirty="0"/>
          </a:p>
        </p:txBody>
      </p:sp>
      <p:sp>
        <p:nvSpPr>
          <p:cNvPr id="18" name="Lead ad 4"/>
          <p:cNvSpPr txBox="1"/>
          <p:nvPr/>
        </p:nvSpPr>
        <p:spPr>
          <a:xfrm>
            <a:off x="4617720" y="284378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S3 Vetting · estático</a:t>
            </a:r>
            <a:endParaRPr lang="en-US" sz="1200" dirty="0"/>
          </a:p>
        </p:txBody>
      </p:sp>
      <p:sp>
        <p:nvSpPr>
          <p:cNvPr id="19" name="Lead result 4"/>
          <p:cNvSpPr txBox="1"/>
          <p:nvPr/>
        </p:nvSpPr>
        <p:spPr>
          <a:xfrm>
            <a:off x="6858000" y="284378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No calificado</a:t>
            </a:r>
            <a:endParaRPr lang="en-US" sz="1200" dirty="0"/>
          </a:p>
        </p:txBody>
      </p:sp>
      <p:sp>
        <p:nvSpPr>
          <p:cNvPr id="20" name="Unattributed note"/>
          <p:cNvSpPr txBox="1"/>
          <p:nvPr/>
        </p:nvSpPr>
        <p:spPr>
          <a:xfrm>
            <a:off x="3840480" y="35204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Pendiente: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 leads calificados del 11 oct sin atribución (tráfico directo, sin UTM).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Cronología de cambios</a:t>
            </a:r>
            <a:endParaRPr lang="en-US" sz="3000" dirty="0"/>
          </a:p>
        </p:txBody>
      </p:sp>
      <p:sp>
        <p:nvSpPr>
          <p:cNvPr id="3" name="Timeline line"/>
          <p:cNvSpPr/>
          <p:nvPr/>
        </p:nvSpPr>
        <p:spPr>
          <a:xfrm>
            <a:off x="822960" y="1700784"/>
            <a:ext cx="74980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4" name="Timeline dot 1"/>
          <p:cNvSpPr/>
          <p:nvPr/>
        </p:nvSpPr>
        <p:spPr>
          <a:xfrm>
            <a:off x="630936" y="15087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imeline dot 1 label"/>
          <p:cNvSpPr txBox="1"/>
          <p:nvPr/>
        </p:nvSpPr>
        <p:spPr>
          <a:xfrm>
            <a:off x="63093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imeline date 1"/>
          <p:cNvSpPr txBox="1"/>
          <p:nvPr/>
        </p:nvSpPr>
        <p:spPr>
          <a:xfrm>
            <a:off x="45720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29 sep</a:t>
            </a:r>
            <a:endParaRPr lang="en-US" sz="1300" dirty="0"/>
          </a:p>
        </p:txBody>
      </p:sp>
      <p:sp>
        <p:nvSpPr>
          <p:cNvPr id="7" name="Timeline head 1"/>
          <p:cNvSpPr txBox="1"/>
          <p:nvPr/>
        </p:nvSpPr>
        <p:spPr>
          <a:xfrm>
            <a:off x="45720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Lanzamiento</a:t>
            </a:r>
            <a:endParaRPr lang="en-US" sz="1700" dirty="0"/>
          </a:p>
        </p:txBody>
      </p:sp>
      <p:sp>
        <p:nvSpPr>
          <p:cNvPr id="8" name="Timeline body 1"/>
          <p:cNvSpPr txBox="1"/>
          <p:nvPr/>
        </p:nvSpPr>
        <p:spPr>
          <a:xfrm>
            <a:off x="457200" y="27889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Campaña ABO, objetivo Leads. 4 videos y 2 carruseles.</a:t>
            </a:r>
            <a:endParaRPr lang="en-US" sz="1300" dirty="0"/>
          </a:p>
        </p:txBody>
      </p:sp>
      <p:sp>
        <p:nvSpPr>
          <p:cNvPr id="9" name="Timeline dot 2"/>
          <p:cNvSpPr/>
          <p:nvPr/>
        </p:nvSpPr>
        <p:spPr>
          <a:xfrm>
            <a:off x="2734056" y="15087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imeline dot 2 label"/>
          <p:cNvSpPr txBox="1"/>
          <p:nvPr/>
        </p:nvSpPr>
        <p:spPr>
          <a:xfrm>
            <a:off x="273405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imeline date 2"/>
          <p:cNvSpPr txBox="1"/>
          <p:nvPr/>
        </p:nvSpPr>
        <p:spPr>
          <a:xfrm>
            <a:off x="256032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 oct</a:t>
            </a:r>
            <a:endParaRPr lang="en-US" sz="1300" dirty="0"/>
          </a:p>
        </p:txBody>
      </p:sp>
      <p:sp>
        <p:nvSpPr>
          <p:cNvPr id="12" name="Timeline head 2"/>
          <p:cNvSpPr txBox="1"/>
          <p:nvPr/>
        </p:nvSpPr>
        <p:spPr>
          <a:xfrm>
            <a:off x="256032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Expansión creativa</a:t>
            </a:r>
            <a:endParaRPr lang="en-US" sz="1700" dirty="0"/>
          </a:p>
        </p:txBody>
      </p:sp>
      <p:sp>
        <p:nvSpPr>
          <p:cNvPr id="13" name="Timeline body 2"/>
          <p:cNvSpPr txBox="1"/>
          <p:nvPr/>
        </p:nvSpPr>
        <p:spPr>
          <a:xfrm>
            <a:off x="2560320" y="27889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+8 estáticos (S1–S8).</a:t>
            </a:r>
            <a:endParaRPr lang="en-US" sz="1300" dirty="0"/>
          </a:p>
        </p:txBody>
      </p:sp>
      <p:sp>
        <p:nvSpPr>
          <p:cNvPr id="14" name="Timeline dot 3"/>
          <p:cNvSpPr/>
          <p:nvPr/>
        </p:nvSpPr>
        <p:spPr>
          <a:xfrm>
            <a:off x="4837176" y="15087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imeline dot 3 label"/>
          <p:cNvSpPr txBox="1"/>
          <p:nvPr/>
        </p:nvSpPr>
        <p:spPr>
          <a:xfrm>
            <a:off x="483717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imeline date 3"/>
          <p:cNvSpPr txBox="1"/>
          <p:nvPr/>
        </p:nvSpPr>
        <p:spPr>
          <a:xfrm>
            <a:off x="466344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11 oct</a:t>
            </a:r>
            <a:endParaRPr lang="en-US" sz="1300" dirty="0"/>
          </a:p>
        </p:txBody>
      </p:sp>
      <p:sp>
        <p:nvSpPr>
          <p:cNvPr id="17" name="Timeline head 3"/>
          <p:cNvSpPr txBox="1"/>
          <p:nvPr/>
        </p:nvSpPr>
        <p:spPr>
          <a:xfrm>
            <a:off x="466344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manual</a:t>
            </a:r>
            <a:endParaRPr lang="en-US" sz="1700" dirty="0"/>
          </a:p>
        </p:txBody>
      </p:sp>
      <p:sp>
        <p:nvSpPr>
          <p:cNvPr id="18" name="Timeline body 3"/>
          <p:cNvSpPr txBox="1"/>
          <p:nvPr/>
        </p:nvSpPr>
        <p:spPr>
          <a:xfrm>
            <a:off x="4663440" y="27889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Pausa de videos y carruseles; activos solo S1, S6 y S8.</a:t>
            </a:r>
            <a:endParaRPr lang="en-US" sz="1300" dirty="0"/>
          </a:p>
        </p:txBody>
      </p:sp>
      <p:sp>
        <p:nvSpPr>
          <p:cNvPr id="19" name="Timeline dot 4"/>
          <p:cNvSpPr/>
          <p:nvPr/>
        </p:nvSpPr>
        <p:spPr>
          <a:xfrm>
            <a:off x="6940296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imeline dot 4 label"/>
          <p:cNvSpPr txBox="1"/>
          <p:nvPr/>
        </p:nvSpPr>
        <p:spPr>
          <a:xfrm>
            <a:off x="694029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imeline date 4"/>
          <p:cNvSpPr txBox="1"/>
          <p:nvPr/>
        </p:nvSpPr>
        <p:spPr>
          <a:xfrm>
            <a:off x="676656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12 oct</a:t>
            </a:r>
            <a:endParaRPr lang="en-US" sz="1300" dirty="0"/>
          </a:p>
        </p:txBody>
      </p:sp>
      <p:sp>
        <p:nvSpPr>
          <p:cNvPr id="22" name="Timeline head 4"/>
          <p:cNvSpPr txBox="1"/>
          <p:nvPr/>
        </p:nvSpPr>
        <p:spPr>
          <a:xfrm>
            <a:off x="676656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</a:t>
            </a:r>
            <a:endParaRPr lang="en-US" sz="1700" dirty="0"/>
          </a:p>
        </p:txBody>
      </p:sp>
      <p:sp>
        <p:nvSpPr>
          <p:cNvPr id="23" name="Timeline body 4"/>
          <p:cNvSpPr txBox="1"/>
          <p:nvPr/>
        </p:nvSpPr>
        <p:spPr>
          <a:xfrm>
            <a:off x="6766560" y="27889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Integración con GHL; ajustes de segmentación, creativos y copy.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Optimización del 12 oct</a:t>
            </a:r>
            <a:endParaRPr lang="en-US" sz="3000" dirty="0"/>
          </a:p>
        </p:txBody>
      </p:sp>
      <p:sp>
        <p:nvSpPr>
          <p:cNvPr id="3" name="Fix card 1"/>
          <p:cNvSpPr/>
          <p:nvPr/>
        </p:nvSpPr>
        <p:spPr>
          <a:xfrm>
            <a:off x="457200" y="1097280"/>
            <a:ext cx="2615184" cy="306324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ix dot 1"/>
          <p:cNvSpPr/>
          <p:nvPr/>
        </p:nvSpPr>
        <p:spPr>
          <a:xfrm>
            <a:off x="685800" y="1280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Fix dot 1 label"/>
          <p:cNvSpPr txBox="1"/>
          <p:nvPr/>
        </p:nvSpPr>
        <p:spPr>
          <a:xfrm>
            <a:off x="6858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Fix head 1"/>
          <p:cNvSpPr txBox="1"/>
          <p:nvPr/>
        </p:nvSpPr>
        <p:spPr>
          <a:xfrm>
            <a:off x="1188720" y="1280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Audiencia</a:t>
            </a:r>
            <a:endParaRPr lang="en-US" sz="1800" dirty="0"/>
          </a:p>
        </p:txBody>
      </p:sp>
      <p:sp>
        <p:nvSpPr>
          <p:cNvPr id="7" name="Fix body 1"/>
          <p:cNvSpPr txBox="1"/>
          <p:nvPr/>
        </p:nvSpPr>
        <p:spPr>
          <a:xfrm>
            <a:off x="685800" y="18288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Advantage+ Audience desactivado (gasto en 18–34).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Edad 30–65 como límite estricto.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Ubicación: residentes en EE. UU.</a:t>
            </a:r>
            <a:endParaRPr lang="en-US" sz="1300" dirty="0"/>
          </a:p>
        </p:txBody>
      </p:sp>
      <p:sp>
        <p:nvSpPr>
          <p:cNvPr id="8" name="Fix card 2"/>
          <p:cNvSpPr/>
          <p:nvPr/>
        </p:nvSpPr>
        <p:spPr>
          <a:xfrm>
            <a:off x="3264408" y="1097280"/>
            <a:ext cx="2615184" cy="306324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ix dot 2"/>
          <p:cNvSpPr/>
          <p:nvPr/>
        </p:nvSpPr>
        <p:spPr>
          <a:xfrm>
            <a:off x="3493008" y="1280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ix dot 2 label"/>
          <p:cNvSpPr txBox="1"/>
          <p:nvPr/>
        </p:nvSpPr>
        <p:spPr>
          <a:xfrm>
            <a:off x="3493008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Fix head 2"/>
          <p:cNvSpPr txBox="1"/>
          <p:nvPr/>
        </p:nvSpPr>
        <p:spPr>
          <a:xfrm>
            <a:off x="3995928" y="1280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Anuncios</a:t>
            </a:r>
            <a:endParaRPr lang="en-US" sz="1800" dirty="0"/>
          </a:p>
        </p:txBody>
      </p:sp>
      <p:sp>
        <p:nvSpPr>
          <p:cNvPr id="12" name="Fix body 2"/>
          <p:cNvSpPr txBox="1"/>
          <p:nvPr/>
        </p:nvSpPr>
        <p:spPr>
          <a:xfrm>
            <a:off x="3493008" y="18288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V2 reactivado (único con lead calificado).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V1 reactivado (CTR 28%).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S1 y S6 pausados; S8 activo.</a:t>
            </a:r>
            <a:endParaRPr lang="en-US" sz="1300" dirty="0"/>
          </a:p>
        </p:txBody>
      </p:sp>
      <p:sp>
        <p:nvSpPr>
          <p:cNvPr id="13" name="Fix card 3"/>
          <p:cNvSpPr/>
          <p:nvPr/>
        </p:nvSpPr>
        <p:spPr>
          <a:xfrm>
            <a:off x="6071616" y="1097280"/>
            <a:ext cx="2615184" cy="306324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ix dot 3"/>
          <p:cNvSpPr/>
          <p:nvPr/>
        </p:nvSpPr>
        <p:spPr>
          <a:xfrm>
            <a:off x="6300216" y="1280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ix dot 3 label"/>
          <p:cNvSpPr txBox="1"/>
          <p:nvPr/>
        </p:nvSpPr>
        <p:spPr>
          <a:xfrm>
            <a:off x="6300216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Fix head 3"/>
          <p:cNvSpPr txBox="1"/>
          <p:nvPr/>
        </p:nvSpPr>
        <p:spPr>
          <a:xfrm>
            <a:off x="6803136" y="1280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</a:t>
            </a:r>
            <a:endParaRPr lang="en-US" sz="1800" dirty="0"/>
          </a:p>
        </p:txBody>
      </p:sp>
      <p:sp>
        <p:nvSpPr>
          <p:cNvPr id="17" name="Fix body 3"/>
          <p:cNvSpPr txBox="1"/>
          <p:nvPr/>
        </p:nvSpPr>
        <p:spPr>
          <a:xfrm>
            <a:off x="6300216" y="18288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Hook dirigido al comprador ("Law firm owners:").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Precio visible: desde $1,000/mes.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 términos asociados a empleo.</a:t>
            </a:r>
            <a:endParaRPr lang="en-US" sz="1300" dirty="0"/>
          </a:p>
        </p:txBody>
      </p:sp>
      <p:sp>
        <p:nvSpPr>
          <p:cNvPr id="18" name="Exclusions note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Exclusión de intereses de empleo no disponible: Meta retiró las exclusiones de segmentación detallada.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Hallazgos</a:t>
            </a:r>
            <a:endParaRPr lang="en-US" sz="3000" dirty="0"/>
          </a:p>
        </p:txBody>
      </p:sp>
      <p:sp>
        <p:nvSpPr>
          <p:cNvPr id="3" name="Learning dot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Learning dot 1 label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Learning head 1"/>
          <p:cNvSpPr txBox="1"/>
          <p:nvPr/>
        </p:nvSpPr>
        <p:spPr>
          <a:xfrm>
            <a:off x="1051560" y="1051560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V2 es el único creativo con lead calificado.</a:t>
            </a:r>
            <a:endParaRPr lang="en-US" sz="1600" dirty="0"/>
          </a:p>
        </p:txBody>
      </p:sp>
      <p:sp>
        <p:nvSpPr>
          <p:cNvPr id="6" name="Learning body 1"/>
          <p:cNvSpPr txBox="1"/>
          <p:nvPr/>
        </p:nvSpPr>
        <p:spPr>
          <a:xfrm>
            <a:off x="1051560" y="1435608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Share de gasto: 82% en semana 1, 21% en semana 2.</a:t>
            </a:r>
            <a:endParaRPr lang="en-US" sz="1300" dirty="0"/>
          </a:p>
        </p:txBody>
      </p:sp>
      <p:sp>
        <p:nvSpPr>
          <p:cNvPr id="7" name="Learning dot 2"/>
          <p:cNvSpPr/>
          <p:nvPr/>
        </p:nvSpPr>
        <p:spPr>
          <a:xfrm>
            <a:off x="457200" y="1993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Learning dot 2 label"/>
          <p:cNvSpPr txBox="1"/>
          <p:nvPr/>
        </p:nvSpPr>
        <p:spPr>
          <a:xfrm>
            <a:off x="45720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Learning head 2"/>
          <p:cNvSpPr txBox="1"/>
          <p:nvPr/>
        </p:nvSpPr>
        <p:spPr>
          <a:xfrm>
            <a:off x="1051560" y="194767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S3 genera tráfico de baja intención.</a:t>
            </a:r>
            <a:endParaRPr lang="en-US" sz="1600" dirty="0"/>
          </a:p>
        </p:txBody>
      </p:sp>
      <p:sp>
        <p:nvSpPr>
          <p:cNvPr id="10" name="Learning body 2"/>
          <p:cNvSpPr txBox="1"/>
          <p:nvPr/>
        </p:nvSpPr>
        <p:spPr>
          <a:xfrm>
            <a:off x="1051560" y="233172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$207.45 en semana 2, CTR 1.6%, 2 leads no calificados.</a:t>
            </a:r>
            <a:endParaRPr lang="en-US" sz="1300" dirty="0"/>
          </a:p>
        </p:txBody>
      </p:sp>
      <p:sp>
        <p:nvSpPr>
          <p:cNvPr id="11" name="Learning dot 3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Learning dot 3 label"/>
          <p:cNvSpPr txBox="1"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Learning head 3"/>
          <p:cNvSpPr txBox="1"/>
          <p:nvPr/>
        </p:nvSpPr>
        <p:spPr>
          <a:xfrm>
            <a:off x="1051560" y="2843784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El evento Lead de Meta no refleja calidad.</a:t>
            </a:r>
            <a:endParaRPr lang="en-US" sz="1600" dirty="0"/>
          </a:p>
        </p:txBody>
      </p:sp>
      <p:sp>
        <p:nvSpPr>
          <p:cNvPr id="14" name="Learning body 3"/>
          <p:cNvSpPr txBox="1"/>
          <p:nvPr/>
        </p:nvSpPr>
        <p:spPr>
          <a:xfrm>
            <a:off x="1051560" y="3227832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 de 4 leads atribuidos no calificados. KPI: CPL calificado (GHL).</a:t>
            </a:r>
            <a:endParaRPr lang="en-US" sz="1300" dirty="0"/>
          </a:p>
        </p:txBody>
      </p:sp>
      <p:sp>
        <p:nvSpPr>
          <p:cNvPr id="15" name="Learning dot 4"/>
          <p:cNvSpPr/>
          <p:nvPr/>
        </p:nvSpPr>
        <p:spPr>
          <a:xfrm>
            <a:off x="457200" y="3785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Learning dot 4 label"/>
          <p:cNvSpPr txBox="1"/>
          <p:nvPr/>
        </p:nvSpPr>
        <p:spPr>
          <a:xfrm>
            <a:off x="45720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Learning head 4"/>
          <p:cNvSpPr txBox="1"/>
          <p:nvPr/>
        </p:nvSpPr>
        <p:spPr>
          <a:xfrm>
            <a:off x="1051560" y="3739896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V1 y V4: CTR de 23–29% con gasto marginal.</a:t>
            </a:r>
            <a:endParaRPr lang="en-US" sz="1600" dirty="0"/>
          </a:p>
        </p:txBody>
      </p:sp>
      <p:sp>
        <p:nvSpPr>
          <p:cNvPr id="18" name="Learning body 4"/>
          <p:cNvSpPr txBox="1"/>
          <p:nvPr/>
        </p:nvSpPr>
        <p:spPr>
          <a:xfrm>
            <a:off x="1051560" y="4123944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Sin volumen para evaluar conversión; V1 reactivado en prueba.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Creativos activos (copy v3)</a:t>
            </a:r>
            <a:endParaRPr lang="en-US" sz="3000" dirty="0"/>
          </a:p>
        </p:txBody>
      </p:sp>
      <p:pic>
        <p:nvPicPr>
          <p:cNvPr id="3" name="Capture V2 Small Law Firm · video" descr="Capture V2 Small Law Firm · vide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1367977" cy="2697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4" name="Active name 1"/>
          <p:cNvSpPr txBox="1"/>
          <p:nvPr/>
        </p:nvSpPr>
        <p:spPr>
          <a:xfrm>
            <a:off x="1962337" y="1097280"/>
            <a:ext cx="11100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V2 Small Law Firm · video</a:t>
            </a:r>
            <a:endParaRPr lang="en-US" sz="1300" dirty="0"/>
          </a:p>
        </p:txBody>
      </p:sp>
      <p:sp>
        <p:nvSpPr>
          <p:cNvPr id="5" name="Active nums 1"/>
          <p:cNvSpPr txBox="1"/>
          <p:nvPr/>
        </p:nvSpPr>
        <p:spPr>
          <a:xfrm>
            <a:off x="1962337" y="1783080"/>
            <a:ext cx="11100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$230.30 · 133 clics</a:t>
            </a:r>
            <a:endParaRPr lang="en-US" sz="1200" dirty="0"/>
          </a:p>
        </p:txBody>
      </p:sp>
      <p:sp>
        <p:nvSpPr>
          <p:cNvPr id="6" name="Active result 1"/>
          <p:cNvSpPr txBox="1"/>
          <p:nvPr/>
        </p:nvSpPr>
        <p:spPr>
          <a:xfrm>
            <a:off x="1962337" y="2331720"/>
            <a:ext cx="11100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1 lead calificado (agendado)</a:t>
            </a:r>
            <a:endParaRPr lang="en-US" sz="1200" dirty="0"/>
          </a:p>
        </p:txBody>
      </p:sp>
      <p:pic>
        <p:nvPicPr>
          <p:cNvPr id="7" name="Capture V1 POV Email · video" descr="Capture V1 POV Email · 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051560"/>
            <a:ext cx="1575171" cy="2697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8" name="Active name 2"/>
          <p:cNvSpPr txBox="1"/>
          <p:nvPr/>
        </p:nvSpPr>
        <p:spPr>
          <a:xfrm>
            <a:off x="4976739" y="1097280"/>
            <a:ext cx="90285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V1 POV Email · video</a:t>
            </a:r>
            <a:endParaRPr lang="en-US" sz="1300" dirty="0"/>
          </a:p>
        </p:txBody>
      </p:sp>
      <p:sp>
        <p:nvSpPr>
          <p:cNvPr id="9" name="Active nums 2"/>
          <p:cNvSpPr txBox="1"/>
          <p:nvPr/>
        </p:nvSpPr>
        <p:spPr>
          <a:xfrm>
            <a:off x="4976739" y="1783080"/>
            <a:ext cx="9028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$3.05 · 34 clics</a:t>
            </a:r>
            <a:endParaRPr lang="en-US" sz="1200" dirty="0"/>
          </a:p>
        </p:txBody>
      </p:sp>
      <p:sp>
        <p:nvSpPr>
          <p:cNvPr id="10" name="Active result 2"/>
          <p:cNvSpPr txBox="1"/>
          <p:nvPr/>
        </p:nvSpPr>
        <p:spPr>
          <a:xfrm>
            <a:off x="4976739" y="2331720"/>
            <a:ext cx="90285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Sin leads · en prueba</a:t>
            </a:r>
            <a:endParaRPr lang="en-US" sz="1200" dirty="0"/>
          </a:p>
        </p:txBody>
      </p:sp>
      <p:pic>
        <p:nvPicPr>
          <p:cNvPr id="11" name="Capture S8 Comparison · estático" descr="Capture S8 Comparison · estátic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1051560"/>
            <a:ext cx="1367977" cy="2697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12" name="Active name 3"/>
          <p:cNvSpPr txBox="1"/>
          <p:nvPr/>
        </p:nvSpPr>
        <p:spPr>
          <a:xfrm>
            <a:off x="7576753" y="1097280"/>
            <a:ext cx="11100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S8 Comparison · estático</a:t>
            </a:r>
            <a:endParaRPr lang="en-US" sz="1300" dirty="0"/>
          </a:p>
        </p:txBody>
      </p:sp>
      <p:sp>
        <p:nvSpPr>
          <p:cNvPr id="13" name="Active nums 3"/>
          <p:cNvSpPr txBox="1"/>
          <p:nvPr/>
        </p:nvSpPr>
        <p:spPr>
          <a:xfrm>
            <a:off x="7576753" y="1783080"/>
            <a:ext cx="11100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$2.62 · 1 clic</a:t>
            </a:r>
            <a:endParaRPr lang="en-US" sz="1200" dirty="0"/>
          </a:p>
        </p:txBody>
      </p:sp>
      <p:sp>
        <p:nvSpPr>
          <p:cNvPr id="14" name="Active result 3"/>
          <p:cNvSpPr txBox="1"/>
          <p:nvPr/>
        </p:nvSpPr>
        <p:spPr>
          <a:xfrm>
            <a:off x="7576753" y="2331720"/>
            <a:ext cx="11100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Sin leads</a:t>
            </a:r>
            <a:endParaRPr lang="en-US" sz="1200" dirty="0"/>
          </a:p>
        </p:txBody>
      </p:sp>
      <p:sp>
        <p:nvSpPr>
          <p:cNvPr id="15" name="Active note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Acumulado 29 sep – 11 oct. En videos se muestra la miniatura.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Creativos con leads no calificados</a:t>
            </a:r>
            <a:endParaRPr lang="en-US" sz="3000" dirty="0"/>
          </a:p>
        </p:txBody>
      </p:sp>
      <p:pic>
        <p:nvPicPr>
          <p:cNvPr id="3" name="Capture S3 Vetting · estático" descr="Capture S3 Vetting · estáti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1618109" cy="32918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4" name="Bad name 1"/>
          <p:cNvSpPr txBox="1"/>
          <p:nvPr/>
        </p:nvSpPr>
        <p:spPr>
          <a:xfrm>
            <a:off x="2258189" y="1143000"/>
            <a:ext cx="22223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S3 Vetting · estático</a:t>
            </a:r>
            <a:endParaRPr lang="en-US" sz="1500" dirty="0"/>
          </a:p>
        </p:txBody>
      </p:sp>
      <p:sp>
        <p:nvSpPr>
          <p:cNvPr id="5" name="Bad nums 1"/>
          <p:cNvSpPr txBox="1"/>
          <p:nvPr/>
        </p:nvSpPr>
        <p:spPr>
          <a:xfrm>
            <a:off x="2258189" y="1554480"/>
            <a:ext cx="22223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$220.20 · 35 clics · CTR 1.6%</a:t>
            </a:r>
            <a:endParaRPr lang="en-US" sz="1200" dirty="0"/>
          </a:p>
        </p:txBody>
      </p:sp>
      <p:sp>
        <p:nvSpPr>
          <p:cNvPr id="6" name="Bad result 1"/>
          <p:cNvSpPr txBox="1"/>
          <p:nvPr/>
        </p:nvSpPr>
        <p:spPr>
          <a:xfrm>
            <a:off x="2258189" y="2057400"/>
            <a:ext cx="22223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2 leads no calificados</a:t>
            </a:r>
            <a:endParaRPr lang="en-US" sz="1300" dirty="0"/>
          </a:p>
        </p:txBody>
      </p:sp>
      <p:sp>
        <p:nvSpPr>
          <p:cNvPr id="7" name="Bad why 1"/>
          <p:cNvSpPr txBox="1"/>
          <p:nvPr/>
        </p:nvSpPr>
        <p:spPr>
          <a:xfrm>
            <a:off x="2258189" y="2423160"/>
            <a:ext cx="22223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75% del gasto de la semana 2.</a:t>
            </a:r>
            <a:endParaRPr lang="en-US" sz="1200" dirty="0"/>
          </a:p>
        </p:txBody>
      </p:sp>
      <p:sp>
        <p:nvSpPr>
          <p:cNvPr id="8" name="Bad status 1"/>
          <p:cNvSpPr txBox="1"/>
          <p:nvPr/>
        </p:nvSpPr>
        <p:spPr>
          <a:xfrm>
            <a:off x="2258189" y="3291840"/>
            <a:ext cx="22223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Pausado</a:t>
            </a:r>
            <a:endParaRPr lang="en-US" sz="1100" dirty="0"/>
          </a:p>
        </p:txBody>
      </p:sp>
      <p:pic>
        <p:nvPicPr>
          <p:cNvPr id="9" name="Capture C2 Hey You Offer · carrusel" descr="Capture C2 Hey You Offer · carru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1844814" cy="32918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10" name="Bad name 2"/>
          <p:cNvSpPr txBox="1"/>
          <p:nvPr/>
        </p:nvSpPr>
        <p:spPr>
          <a:xfrm>
            <a:off x="6691134" y="1143000"/>
            <a:ext cx="1995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C2 Hey You Offer · carrusel</a:t>
            </a:r>
            <a:endParaRPr lang="en-US" sz="1500" dirty="0"/>
          </a:p>
        </p:txBody>
      </p:sp>
      <p:sp>
        <p:nvSpPr>
          <p:cNvPr id="11" name="Bad nums 2"/>
          <p:cNvSpPr txBox="1"/>
          <p:nvPr/>
        </p:nvSpPr>
        <p:spPr>
          <a:xfrm>
            <a:off x="6691134" y="1554480"/>
            <a:ext cx="1995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$11.19 · 12 clics</a:t>
            </a:r>
            <a:endParaRPr lang="en-US" sz="1200" dirty="0"/>
          </a:p>
        </p:txBody>
      </p:sp>
      <p:sp>
        <p:nvSpPr>
          <p:cNvPr id="12" name="Bad result 2"/>
          <p:cNvSpPr txBox="1"/>
          <p:nvPr/>
        </p:nvSpPr>
        <p:spPr>
          <a:xfrm>
            <a:off x="6691134" y="2057400"/>
            <a:ext cx="19956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 lead no calificado</a:t>
            </a:r>
            <a:endParaRPr lang="en-US" sz="1300" dirty="0"/>
          </a:p>
        </p:txBody>
      </p:sp>
      <p:sp>
        <p:nvSpPr>
          <p:cNvPr id="13" name="Bad why 2"/>
          <p:cNvSpPr txBox="1"/>
          <p:nvPr/>
        </p:nvSpPr>
        <p:spPr>
          <a:xfrm>
            <a:off x="6691134" y="2423160"/>
            <a:ext cx="19956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Oferta tipo "regalo": tráfico de baja intención.</a:t>
            </a:r>
            <a:endParaRPr lang="en-US" sz="1200" dirty="0"/>
          </a:p>
        </p:txBody>
      </p:sp>
      <p:sp>
        <p:nvSpPr>
          <p:cNvPr id="14" name="Bad status 2"/>
          <p:cNvSpPr txBox="1"/>
          <p:nvPr/>
        </p:nvSpPr>
        <p:spPr>
          <a:xfrm>
            <a:off x="6691134" y="3291840"/>
            <a:ext cx="1995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Pausado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Creativos pausados sin conversiones</a:t>
            </a:r>
            <a:endParaRPr lang="en-US" sz="3000" dirty="0"/>
          </a:p>
        </p:txBody>
      </p:sp>
      <p:pic>
        <p:nvPicPr>
          <p:cNvPr id="3" name="Capture V3 Vetting Process" descr="Capture V3 Vetting Proc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270" y="1051560"/>
            <a:ext cx="1303476" cy="26517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4" name="Other name 1"/>
          <p:cNvSpPr txBox="1"/>
          <p:nvPr/>
        </p:nvSpPr>
        <p:spPr>
          <a:xfrm>
            <a:off x="457200" y="37947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V3 Vetting Process</a:t>
            </a:r>
            <a:endParaRPr lang="en-US" sz="1200" dirty="0"/>
          </a:p>
        </p:txBody>
      </p:sp>
      <p:sp>
        <p:nvSpPr>
          <p:cNvPr id="5" name="Other nums 1"/>
          <p:cNvSpPr txBox="1"/>
          <p:nvPr/>
        </p:nvSpPr>
        <p:spPr>
          <a:xfrm>
            <a:off x="457200" y="406908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$12.43 · 6 clics</a:t>
            </a:r>
            <a:endParaRPr lang="en-US" sz="1100" dirty="0"/>
          </a:p>
        </p:txBody>
      </p:sp>
      <p:pic>
        <p:nvPicPr>
          <p:cNvPr id="6" name="Capture S6 What VA Does" descr="Capture S6 What VA Do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108" y="1051560"/>
            <a:ext cx="1344791" cy="26517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7" name="Other name 2"/>
          <p:cNvSpPr txBox="1"/>
          <p:nvPr/>
        </p:nvSpPr>
        <p:spPr>
          <a:xfrm>
            <a:off x="2139696" y="37947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S6 What VA Does</a:t>
            </a:r>
            <a:endParaRPr lang="en-US" sz="1200" dirty="0"/>
          </a:p>
        </p:txBody>
      </p:sp>
      <p:sp>
        <p:nvSpPr>
          <p:cNvPr id="8" name="Other nums 2"/>
          <p:cNvSpPr txBox="1"/>
          <p:nvPr/>
        </p:nvSpPr>
        <p:spPr>
          <a:xfrm>
            <a:off x="2139696" y="406908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$4.76 · 2 clics</a:t>
            </a:r>
            <a:endParaRPr lang="en-US" sz="1100" dirty="0"/>
          </a:p>
        </p:txBody>
      </p:sp>
      <p:pic>
        <p:nvPicPr>
          <p:cNvPr id="9" name="Capture V4 Founder Story" descr="Capture V4 Founder 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392" y="1051560"/>
            <a:ext cx="1351215" cy="26517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10" name="Other name 3"/>
          <p:cNvSpPr txBox="1"/>
          <p:nvPr/>
        </p:nvSpPr>
        <p:spPr>
          <a:xfrm>
            <a:off x="3822192" y="37947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V4 Founder Story</a:t>
            </a:r>
            <a:endParaRPr lang="en-US" sz="1200" dirty="0"/>
          </a:p>
        </p:txBody>
      </p:sp>
      <p:sp>
        <p:nvSpPr>
          <p:cNvPr id="11" name="Other nums 3"/>
          <p:cNvSpPr txBox="1"/>
          <p:nvPr/>
        </p:nvSpPr>
        <p:spPr>
          <a:xfrm>
            <a:off x="3822192" y="406908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$2.42 · 12 clics</a:t>
            </a:r>
            <a:endParaRPr lang="en-US" sz="1100" dirty="0"/>
          </a:p>
        </p:txBody>
      </p:sp>
      <p:pic>
        <p:nvPicPr>
          <p:cNvPr id="12" name="Capture C1 Guilty" descr="Capture C1 Guil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475" y="1051560"/>
            <a:ext cx="1540042" cy="26517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13" name="Other name 4"/>
          <p:cNvSpPr txBox="1"/>
          <p:nvPr/>
        </p:nvSpPr>
        <p:spPr>
          <a:xfrm>
            <a:off x="5504688" y="37947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C1 Guilty</a:t>
            </a:r>
            <a:endParaRPr lang="en-US" sz="1200" dirty="0"/>
          </a:p>
        </p:txBody>
      </p:sp>
      <p:sp>
        <p:nvSpPr>
          <p:cNvPr id="14" name="Other nums 4"/>
          <p:cNvSpPr txBox="1"/>
          <p:nvPr/>
        </p:nvSpPr>
        <p:spPr>
          <a:xfrm>
            <a:off x="5504688" y="406908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$0.52 · 1 clic</a:t>
            </a:r>
            <a:endParaRPr lang="en-US" sz="1100" dirty="0"/>
          </a:p>
        </p:txBody>
      </p:sp>
      <p:pic>
        <p:nvPicPr>
          <p:cNvPr id="15" name="Capture S1 Cost" descr="Capture S1 Cos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596" y="1051560"/>
            <a:ext cx="1344791" cy="26517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16" name="Other name 5"/>
          <p:cNvSpPr txBox="1"/>
          <p:nvPr/>
        </p:nvSpPr>
        <p:spPr>
          <a:xfrm>
            <a:off x="7187184" y="37947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S1 Cost</a:t>
            </a:r>
            <a:endParaRPr lang="en-US" sz="1200" dirty="0"/>
          </a:p>
        </p:txBody>
      </p:sp>
      <p:sp>
        <p:nvSpPr>
          <p:cNvPr id="17" name="Other nums 5"/>
          <p:cNvSpPr txBox="1"/>
          <p:nvPr/>
        </p:nvSpPr>
        <p:spPr>
          <a:xfrm>
            <a:off x="7187184" y="406908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$0.05 · 0 clics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Conclusiones: qué funciona y qué no</a:t>
            </a:r>
            <a:endParaRPr lang="en-US" sz="3000" dirty="0"/>
          </a:p>
        </p:txBody>
      </p:sp>
      <p:sp>
        <p:nvSpPr>
          <p:cNvPr id="3" name="Conclusion head 1"/>
          <p:cNvSpPr txBox="1"/>
          <p:nvPr/>
        </p:nvSpPr>
        <p:spPr>
          <a:xfrm>
            <a:off x="45720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</a:t>
            </a:r>
            <a:endParaRPr lang="en-US" sz="1800" dirty="0"/>
          </a:p>
        </p:txBody>
      </p:sp>
      <p:sp>
        <p:nvSpPr>
          <p:cNvPr id="4" name="Conclusion card 1.1"/>
          <p:cNvSpPr/>
          <p:nvPr/>
        </p:nvSpPr>
        <p:spPr>
          <a:xfrm>
            <a:off x="457200" y="150876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nclusion dot 1.1"/>
          <p:cNvSpPr/>
          <p:nvPr/>
        </p:nvSpPr>
        <p:spPr>
          <a:xfrm>
            <a:off x="594360" y="175564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Conclusion title 1.1"/>
          <p:cNvSpPr txBox="1"/>
          <p:nvPr/>
        </p:nvSpPr>
        <p:spPr>
          <a:xfrm>
            <a:off x="914400" y="1563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Video vertical por segmento</a:t>
            </a:r>
            <a:endParaRPr lang="en-US" sz="1300" dirty="0"/>
          </a:p>
        </p:txBody>
      </p:sp>
      <p:sp>
        <p:nvSpPr>
          <p:cNvPr id="7" name="Conclusion body 1.1"/>
          <p:cNvSpPr txBox="1"/>
          <p:nvPr/>
        </p:nvSpPr>
        <p:spPr>
          <a:xfrm>
            <a:off x="914400" y="18379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CTR 6.2% (video) vs. 1.9% (estático). V2 (legal) genera el único lead calificado.</a:t>
            </a:r>
            <a:endParaRPr lang="en-US" sz="1100" dirty="0"/>
          </a:p>
        </p:txBody>
      </p:sp>
      <p:sp>
        <p:nvSpPr>
          <p:cNvPr id="8" name="Conclusion card 1.2"/>
          <p:cNvSpPr/>
          <p:nvPr/>
        </p:nvSpPr>
        <p:spPr>
          <a:xfrm>
            <a:off x="457200" y="228600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nclusion dot 1.2"/>
          <p:cNvSpPr/>
          <p:nvPr/>
        </p:nvSpPr>
        <p:spPr>
          <a:xfrm>
            <a:off x="594360" y="253288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Conclusion title 1.2"/>
          <p:cNvSpPr txBox="1"/>
          <p:nvPr/>
        </p:nvSpPr>
        <p:spPr>
          <a:xfrm>
            <a:off x="91440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Filtro de calificación</a:t>
            </a:r>
            <a:endParaRPr lang="en-US" sz="1300" dirty="0"/>
          </a:p>
        </p:txBody>
      </p:sp>
      <p:sp>
        <p:nvSpPr>
          <p:cNvPr id="11" name="Conclusion body 1.2"/>
          <p:cNvSpPr txBox="1"/>
          <p:nvPr/>
        </p:nvSpPr>
        <p:spPr>
          <a:xfrm>
            <a:off x="914400" y="26151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"Hiring or job seeking" identificó los 3 leads no calificados.</a:t>
            </a:r>
            <a:endParaRPr lang="en-US" sz="1100" dirty="0"/>
          </a:p>
        </p:txBody>
      </p:sp>
      <p:sp>
        <p:nvSpPr>
          <p:cNvPr id="12" name="Conclusion card 1.3"/>
          <p:cNvSpPr/>
          <p:nvPr/>
        </p:nvSpPr>
        <p:spPr>
          <a:xfrm>
            <a:off x="457200" y="306324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onclusion dot 1.3"/>
          <p:cNvSpPr/>
          <p:nvPr/>
        </p:nvSpPr>
        <p:spPr>
          <a:xfrm>
            <a:off x="594360" y="331012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Conclusion title 1.3"/>
          <p:cNvSpPr txBox="1"/>
          <p:nvPr/>
        </p:nvSpPr>
        <p:spPr>
          <a:xfrm>
            <a:off x="914400" y="3118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Medición con GHL</a:t>
            </a:r>
            <a:endParaRPr lang="en-US" sz="1300" dirty="0"/>
          </a:p>
        </p:txBody>
      </p:sp>
      <p:sp>
        <p:nvSpPr>
          <p:cNvPr id="15" name="Conclusion body 1.3"/>
          <p:cNvSpPr txBox="1"/>
          <p:nvPr/>
        </p:nvSpPr>
        <p:spPr>
          <a:xfrm>
            <a:off x="914400" y="3392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KPI de calidad por anuncio; reemplaza al evento Lead de Meta.</a:t>
            </a:r>
            <a:endParaRPr lang="en-US" sz="1100" dirty="0"/>
          </a:p>
        </p:txBody>
      </p:sp>
      <p:sp>
        <p:nvSpPr>
          <p:cNvPr id="16" name="Conclusion card 1.4"/>
          <p:cNvSpPr/>
          <p:nvPr/>
        </p:nvSpPr>
        <p:spPr>
          <a:xfrm>
            <a:off x="457200" y="384048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onclusion dot 1.4"/>
          <p:cNvSpPr/>
          <p:nvPr/>
        </p:nvSpPr>
        <p:spPr>
          <a:xfrm>
            <a:off x="594360" y="408736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Conclusion title 1.4"/>
          <p:cNvSpPr txBox="1"/>
          <p:nvPr/>
        </p:nvSpPr>
        <p:spPr>
          <a:xfrm>
            <a:off x="914400" y="3895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Segmentación estricta</a:t>
            </a:r>
            <a:endParaRPr lang="en-US" sz="1300" dirty="0"/>
          </a:p>
        </p:txBody>
      </p:sp>
      <p:sp>
        <p:nvSpPr>
          <p:cNvPr id="19" name="Conclusion body 1.4"/>
          <p:cNvSpPr txBox="1"/>
          <p:nvPr/>
        </p:nvSpPr>
        <p:spPr>
          <a:xfrm>
            <a:off x="914400" y="4169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30–65, residentes en EE. UU., sin expansión de Advantage+.</a:t>
            </a:r>
            <a:endParaRPr lang="en-US" sz="1100" dirty="0"/>
          </a:p>
        </p:txBody>
      </p:sp>
      <p:sp>
        <p:nvSpPr>
          <p:cNvPr id="20" name="Conclusion head 2"/>
          <p:cNvSpPr txBox="1"/>
          <p:nvPr/>
        </p:nvSpPr>
        <p:spPr>
          <a:xfrm>
            <a:off x="466344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funciona</a:t>
            </a:r>
            <a:endParaRPr lang="en-US" sz="1800" dirty="0"/>
          </a:p>
        </p:txBody>
      </p:sp>
      <p:sp>
        <p:nvSpPr>
          <p:cNvPr id="21" name="Conclusion card 2.1"/>
          <p:cNvSpPr/>
          <p:nvPr/>
        </p:nvSpPr>
        <p:spPr>
          <a:xfrm>
            <a:off x="4663440" y="150876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onclusion dot 2.1"/>
          <p:cNvSpPr/>
          <p:nvPr/>
        </p:nvSpPr>
        <p:spPr>
          <a:xfrm>
            <a:off x="4800600" y="175564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Conclusion title 2.1"/>
          <p:cNvSpPr txBox="1"/>
          <p:nvPr/>
        </p:nvSpPr>
        <p:spPr>
          <a:xfrm>
            <a:off x="5120640" y="1563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Estáticos genéricos de "VA"</a:t>
            </a:r>
            <a:endParaRPr lang="en-US" sz="1300" dirty="0"/>
          </a:p>
        </p:txBody>
      </p:sp>
      <p:sp>
        <p:nvSpPr>
          <p:cNvPr id="24" name="Conclusion body 2.1"/>
          <p:cNvSpPr txBox="1"/>
          <p:nvPr/>
        </p:nvSpPr>
        <p:spPr>
          <a:xfrm>
            <a:off x="5120640" y="18379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S3: 45% del gasto total, 0 leads calificados.</a:t>
            </a:r>
            <a:endParaRPr lang="en-US" sz="1100" dirty="0"/>
          </a:p>
        </p:txBody>
      </p:sp>
      <p:sp>
        <p:nvSpPr>
          <p:cNvPr id="25" name="Conclusion card 2.2"/>
          <p:cNvSpPr/>
          <p:nvPr/>
        </p:nvSpPr>
        <p:spPr>
          <a:xfrm>
            <a:off x="4663440" y="228600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Conclusion dot 2.2"/>
          <p:cNvSpPr/>
          <p:nvPr/>
        </p:nvSpPr>
        <p:spPr>
          <a:xfrm>
            <a:off x="4800600" y="253288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Conclusion title 2.2"/>
          <p:cNvSpPr txBox="1"/>
          <p:nvPr/>
        </p:nvSpPr>
        <p:spPr>
          <a:xfrm>
            <a:off x="512064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Optimización por evento Lead</a:t>
            </a:r>
            <a:endParaRPr lang="en-US" sz="1300" dirty="0"/>
          </a:p>
        </p:txBody>
      </p:sp>
      <p:sp>
        <p:nvSpPr>
          <p:cNvPr id="28" name="Conclusion body 2.2"/>
          <p:cNvSpPr txBox="1"/>
          <p:nvPr/>
        </p:nvSpPr>
        <p:spPr>
          <a:xfrm>
            <a:off x="5120640" y="26151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Meta optimiza hacia quien completa el formulario, calificado o no.</a:t>
            </a:r>
            <a:endParaRPr lang="en-US" sz="1100" dirty="0"/>
          </a:p>
        </p:txBody>
      </p:sp>
      <p:sp>
        <p:nvSpPr>
          <p:cNvPr id="29" name="Conclusion card 2.3"/>
          <p:cNvSpPr/>
          <p:nvPr/>
        </p:nvSpPr>
        <p:spPr>
          <a:xfrm>
            <a:off x="4663440" y="306324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onclusion dot 2.3"/>
          <p:cNvSpPr/>
          <p:nvPr/>
        </p:nvSpPr>
        <p:spPr>
          <a:xfrm>
            <a:off x="4800600" y="331012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Conclusion title 2.3"/>
          <p:cNvSpPr txBox="1"/>
          <p:nvPr/>
        </p:nvSpPr>
        <p:spPr>
          <a:xfrm>
            <a:off x="5120640" y="3118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Volumen creativo insuficiente</a:t>
            </a:r>
            <a:endParaRPr lang="en-US" sz="1300" dirty="0"/>
          </a:p>
        </p:txBody>
      </p:sp>
      <p:sp>
        <p:nvSpPr>
          <p:cNvPr id="32" name="Conclusion body 2.3"/>
          <p:cNvSpPr txBox="1"/>
          <p:nvPr/>
        </p:nvSpPr>
        <p:spPr>
          <a:xfrm>
            <a:off x="5120640" y="3392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 creativos activos y 2 segmentos: sin margen para Andromeda.</a:t>
            </a:r>
            <a:endParaRPr lang="en-US" sz="1100" dirty="0"/>
          </a:p>
        </p:txBody>
      </p:sp>
      <p:sp>
        <p:nvSpPr>
          <p:cNvPr id="33" name="Conclusion card 2.4"/>
          <p:cNvSpPr/>
          <p:nvPr/>
        </p:nvSpPr>
        <p:spPr>
          <a:xfrm>
            <a:off x="4663440" y="384048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Conclusion dot 2.4"/>
          <p:cNvSpPr/>
          <p:nvPr/>
        </p:nvSpPr>
        <p:spPr>
          <a:xfrm>
            <a:off x="4800600" y="408736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Conclusion title 2.4"/>
          <p:cNvSpPr txBox="1"/>
          <p:nvPr/>
        </p:nvSpPr>
        <p:spPr>
          <a:xfrm>
            <a:off x="5120640" y="3895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Conversión de landing</a:t>
            </a:r>
            <a:endParaRPr lang="en-US" sz="1300" dirty="0"/>
          </a:p>
        </p:txBody>
      </p:sp>
      <p:sp>
        <p:nvSpPr>
          <p:cNvPr id="36" name="Conclusion body 2.4"/>
          <p:cNvSpPr txBox="1"/>
          <p:nvPr/>
        </p:nvSpPr>
        <p:spPr>
          <a:xfrm>
            <a:off x="5120640" y="4169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2.2% de landing page views a lead. Cambios manuales sin registro (11 oct).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Andromeda: el creativo define la audiencia</a:t>
            </a:r>
            <a:endParaRPr lang="en-US" sz="3000" dirty="0"/>
          </a:p>
        </p:txBody>
      </p:sp>
      <p:sp>
        <p:nvSpPr>
          <p:cNvPr id="3" name="Andromeda dot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dromeda dot 1 label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Andromeda head 1"/>
          <p:cNvSpPr txBox="1"/>
          <p:nvPr/>
        </p:nvSpPr>
        <p:spPr>
          <a:xfrm>
            <a:off x="1005840" y="1097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Selección por creativo</a:t>
            </a:r>
            <a:endParaRPr lang="en-US" sz="1600" dirty="0"/>
          </a:p>
        </p:txBody>
      </p:sp>
      <p:sp>
        <p:nvSpPr>
          <p:cNvPr id="6" name="Andromeda body 1"/>
          <p:cNvSpPr txBox="1"/>
          <p:nvPr/>
        </p:nvSpPr>
        <p:spPr>
          <a:xfrm>
            <a:off x="1005840" y="14630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Andromeda, el sistema de recuperación de anuncios de Meta, decide a quién mostrar cada anuncio según su contenido: texto, imagen y audio.</a:t>
            </a:r>
            <a:endParaRPr lang="en-US" sz="1200" dirty="0"/>
          </a:p>
        </p:txBody>
      </p:sp>
      <p:sp>
        <p:nvSpPr>
          <p:cNvPr id="7" name="Andromeda dot 2"/>
          <p:cNvSpPr/>
          <p:nvPr/>
        </p:nvSpPr>
        <p:spPr>
          <a:xfrm>
            <a:off x="457200" y="21396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Andromeda dot 2 label"/>
          <p:cNvSpPr txBox="1"/>
          <p:nvPr/>
        </p:nvSpPr>
        <p:spPr>
          <a:xfrm>
            <a:off x="45720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Andromeda head 2"/>
          <p:cNvSpPr txBox="1"/>
          <p:nvPr/>
        </p:nvSpPr>
        <p:spPr>
          <a:xfrm>
            <a:off x="1005840" y="2121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Agrupación de similares</a:t>
            </a:r>
            <a:endParaRPr lang="en-US" sz="1600" dirty="0"/>
          </a:p>
        </p:txBody>
      </p:sp>
      <p:sp>
        <p:nvSpPr>
          <p:cNvPr id="10" name="Andromeda body 2"/>
          <p:cNvSpPr txBox="1"/>
          <p:nvPr/>
        </p:nvSpPr>
        <p:spPr>
          <a:xfrm>
            <a:off x="1005840" y="24871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Creativos parecidos se agrupan y compiten como uno solo. Variaciones menores no amplían el alcance.</a:t>
            </a:r>
            <a:endParaRPr lang="en-US" sz="1200" dirty="0"/>
          </a:p>
        </p:txBody>
      </p:sp>
      <p:sp>
        <p:nvSpPr>
          <p:cNvPr id="11" name="Andromeda dot 3"/>
          <p:cNvSpPr/>
          <p:nvPr/>
        </p:nvSpPr>
        <p:spPr>
          <a:xfrm>
            <a:off x="457200" y="31638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Andromeda dot 3 label"/>
          <p:cNvSpPr txBox="1"/>
          <p:nvPr/>
        </p:nvSpPr>
        <p:spPr>
          <a:xfrm>
            <a:off x="45720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Andromeda head 3"/>
          <p:cNvSpPr txBox="1"/>
          <p:nvPr/>
        </p:nvSpPr>
        <p:spPr>
          <a:xfrm>
            <a:off x="1005840" y="31455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Diversidad = exploración</a:t>
            </a:r>
            <a:endParaRPr lang="en-US" sz="1600" dirty="0"/>
          </a:p>
        </p:txBody>
      </p:sp>
      <p:sp>
        <p:nvSpPr>
          <p:cNvPr id="14" name="Andromeda body 3"/>
          <p:cNvSpPr txBox="1"/>
          <p:nvPr/>
        </p:nvSpPr>
        <p:spPr>
          <a:xfrm>
            <a:off x="1005840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Cada concepto distinto abre un segmento nuevo. Con pocos conceptos, el sistema concentra el gasto en uno (caso S3).</a:t>
            </a:r>
            <a:endParaRPr lang="en-US" sz="1200" dirty="0"/>
          </a:p>
        </p:txBody>
      </p:sp>
      <p:sp>
        <p:nvSpPr>
          <p:cNvPr id="15" name="Creative gap card"/>
          <p:cNvSpPr/>
          <p:nvPr/>
        </p:nvSpPr>
        <p:spPr>
          <a:xfrm>
            <a:off x="5852160" y="1097280"/>
            <a:ext cx="2834640" cy="30632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Gap label 1"/>
          <p:cNvSpPr txBox="1"/>
          <p:nvPr/>
        </p:nvSpPr>
        <p:spPr>
          <a:xfrm>
            <a:off x="608076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Situación actual</a:t>
            </a:r>
            <a:endParaRPr lang="en-US" sz="1200" dirty="0"/>
          </a:p>
        </p:txBody>
      </p:sp>
      <p:sp>
        <p:nvSpPr>
          <p:cNvPr id="17" name="Gap now"/>
          <p:cNvSpPr txBox="1"/>
          <p:nvPr/>
        </p:nvSpPr>
        <p:spPr>
          <a:xfrm>
            <a:off x="6080760" y="1554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8" name="Gap now label"/>
          <p:cNvSpPr txBox="1"/>
          <p:nvPr/>
        </p:nvSpPr>
        <p:spPr>
          <a:xfrm>
            <a:off x="608076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creativos activos · 2 segmentos</a:t>
            </a:r>
            <a:endParaRPr lang="en-US" sz="1200" dirty="0"/>
          </a:p>
        </p:txBody>
      </p:sp>
      <p:sp>
        <p:nvSpPr>
          <p:cNvPr id="19" name="Gap label 2"/>
          <p:cNvSpPr txBox="1"/>
          <p:nvPr/>
        </p:nvSpPr>
        <p:spPr>
          <a:xfrm>
            <a:off x="608076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Requerido</a:t>
            </a:r>
            <a:endParaRPr lang="en-US" sz="1200" dirty="0"/>
          </a:p>
        </p:txBody>
      </p:sp>
      <p:sp>
        <p:nvSpPr>
          <p:cNvPr id="20" name="Gap target"/>
          <p:cNvSpPr txBox="1"/>
          <p:nvPr/>
        </p:nvSpPr>
        <p:spPr>
          <a:xfrm>
            <a:off x="6080760" y="2971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</a:t>
            </a:r>
            <a:endParaRPr lang="en-US" sz="4800" dirty="0"/>
          </a:p>
        </p:txBody>
      </p:sp>
      <p:sp>
        <p:nvSpPr>
          <p:cNvPr id="21" name="Gap target label"/>
          <p:cNvSpPr txBox="1"/>
          <p:nvPr/>
        </p:nvSpPr>
        <p:spPr>
          <a:xfrm>
            <a:off x="608076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conceptos distintos, en 9:16 y 4:5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Estructura creativa requerida</a:t>
            </a:r>
            <a:endParaRPr lang="en-US" sz="3000" dirty="0"/>
          </a:p>
        </p:txBody>
      </p:sp>
      <p:graphicFrame>
        <p:nvGraphicFramePr>
          <p:cNvPr id="14" name="Creative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554480"/>
                <a:gridCol w="2788920"/>
                <a:gridCol w="137160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Ángulo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 (0–3 s / imagen)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Firmas legales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operativa: intake, agenda, seguimiento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9:16 + 4:5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"For Law Firm Owners"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Inmigración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flow: armado de expedientes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demo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"Immigration attorneys:"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Realtors / team leads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 que llama leads a diario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9:16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"For Realtors"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Dueños de negocio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vs. contratación local (−60%)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Estático 4:5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"Local hire vs. Orchid"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Dueños de negocio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Precio: $1,450 setup + desde $1,000/mes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Estático 1:1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"VA pricing, no surprises"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Testimonio de cliente (KW)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testimonial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en cámara, 1er segundo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 de selección y garantía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founder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we vet your assistant"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/ back office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Recepción y administración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"For Medical Offices"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</a:tbl>
          </a:graphicData>
        </a:graphic>
      </p:graphicFrame>
      <p:sp>
        <p:nvSpPr>
          <p:cNvPr id="4" name="Creative specs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Requisitos por pieza: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hook que nombre al comprador en los primeros 3 s, texto en pantalla, subtítulos, CTA "Book a free call", sin términos de empleo y una versión por placement (9:16 y 4:5).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Plan · 12 – 18 oct</a:t>
            </a:r>
            <a:endParaRPr lang="en-US" sz="3000" dirty="0"/>
          </a:p>
        </p:txBody>
      </p:sp>
      <p:sp>
        <p:nvSpPr>
          <p:cNvPr id="3" name="Plan card 1"/>
          <p:cNvSpPr/>
          <p:nvPr/>
        </p:nvSpPr>
        <p:spPr>
          <a:xfrm>
            <a:off x="457200" y="1097280"/>
            <a:ext cx="2615184" cy="301752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lan dot 1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Plan dot 1 label"/>
          <p:cNvSpPr txBox="1"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Plan head 1"/>
          <p:cNvSpPr txBox="1"/>
          <p:nvPr/>
        </p:nvSpPr>
        <p:spPr>
          <a:xfrm>
            <a:off x="68580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de aprendizaje</a:t>
            </a:r>
            <a:endParaRPr lang="en-US" sz="1700" dirty="0"/>
          </a:p>
        </p:txBody>
      </p:sp>
      <p:sp>
        <p:nvSpPr>
          <p:cNvPr id="7" name="Plan body 1"/>
          <p:cNvSpPr txBox="1"/>
          <p:nvPr/>
        </p:nvSpPr>
        <p:spPr>
          <a:xfrm>
            <a:off x="685800" y="2560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Sin cambios durante 5 días. Criterio de pausa: ~$120 de gasto sin lead calificado.</a:t>
            </a:r>
            <a:endParaRPr lang="en-US" sz="1300" dirty="0"/>
          </a:p>
        </p:txBody>
      </p:sp>
      <p:sp>
        <p:nvSpPr>
          <p:cNvPr id="8" name="Plan card 2"/>
          <p:cNvSpPr/>
          <p:nvPr/>
        </p:nvSpPr>
        <p:spPr>
          <a:xfrm>
            <a:off x="3264408" y="1097280"/>
            <a:ext cx="2615184" cy="301752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lan dot 2"/>
          <p:cNvSpPr/>
          <p:nvPr/>
        </p:nvSpPr>
        <p:spPr>
          <a:xfrm>
            <a:off x="3493008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Plan dot 2 label"/>
          <p:cNvSpPr txBox="1"/>
          <p:nvPr/>
        </p:nvSpPr>
        <p:spPr>
          <a:xfrm>
            <a:off x="349300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Plan head 2"/>
          <p:cNvSpPr txBox="1"/>
          <p:nvPr/>
        </p:nvSpPr>
        <p:spPr>
          <a:xfrm>
            <a:off x="3493008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Medición en GHL</a:t>
            </a:r>
            <a:endParaRPr lang="en-US" sz="1700" dirty="0"/>
          </a:p>
        </p:txBody>
      </p:sp>
      <p:sp>
        <p:nvSpPr>
          <p:cNvPr id="12" name="Plan body 2"/>
          <p:cNvSpPr txBox="1"/>
          <p:nvPr/>
        </p:nvSpPr>
        <p:spPr>
          <a:xfrm>
            <a:off x="3493008" y="2560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Reporte diario de leads calificados vs. no calificados por anuncio.</a:t>
            </a:r>
            <a:endParaRPr lang="en-US" sz="1300" dirty="0"/>
          </a:p>
        </p:txBody>
      </p:sp>
      <p:sp>
        <p:nvSpPr>
          <p:cNvPr id="13" name="Plan card 3"/>
          <p:cNvSpPr/>
          <p:nvPr/>
        </p:nvSpPr>
        <p:spPr>
          <a:xfrm>
            <a:off x="6071616" y="1097280"/>
            <a:ext cx="2615184" cy="301752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lan dot 3"/>
          <p:cNvSpPr/>
          <p:nvPr/>
        </p:nvSpPr>
        <p:spPr>
          <a:xfrm>
            <a:off x="6300216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Plan dot 3 label"/>
          <p:cNvSpPr txBox="1"/>
          <p:nvPr/>
        </p:nvSpPr>
        <p:spPr>
          <a:xfrm>
            <a:off x="630021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Plan head 3"/>
          <p:cNvSpPr txBox="1"/>
          <p:nvPr/>
        </p:nvSpPr>
        <p:spPr>
          <a:xfrm>
            <a:off x="6300216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Producción creativa</a:t>
            </a:r>
            <a:endParaRPr lang="en-US" sz="1700" dirty="0"/>
          </a:p>
        </p:txBody>
      </p:sp>
      <p:sp>
        <p:nvSpPr>
          <p:cNvPr id="17" name="Plan body 3"/>
          <p:cNvSpPr txBox="1"/>
          <p:nvPr/>
        </p:nvSpPr>
        <p:spPr>
          <a:xfrm>
            <a:off x="6300216" y="2560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Conceptos 1, 3 y 6 de la matriz como prioridad. V2: reemplazar "19 jobs" por "19 roles".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Decisiones requeridas</a:t>
            </a:r>
            <a:endParaRPr lang="en-US" sz="3000" dirty="0"/>
          </a:p>
        </p:txBody>
      </p:sp>
      <p:sp>
        <p:nvSpPr>
          <p:cNvPr id="3" name="Decision box 1"/>
          <p:cNvSpPr/>
          <p:nvPr/>
        </p:nvSpPr>
        <p:spPr>
          <a:xfrm>
            <a:off x="457200" y="1188720"/>
            <a:ext cx="347472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" name="Decision head 1"/>
          <p:cNvSpPr txBox="1"/>
          <p:nvPr/>
        </p:nvSpPr>
        <p:spPr>
          <a:xfrm>
            <a:off x="1005840" y="1143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Atribución de 3 leads del 11 oct</a:t>
            </a:r>
            <a:endParaRPr lang="en-US" sz="1800" dirty="0"/>
          </a:p>
        </p:txBody>
      </p:sp>
      <p:sp>
        <p:nvSpPr>
          <p:cNvPr id="5" name="Decision body 1"/>
          <p:cNvSpPr txBox="1"/>
          <p:nvPr/>
        </p:nvSpPr>
        <p:spPr>
          <a:xfrm>
            <a:off x="1005840" y="15727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Confirmar si provienen de otro canal o de pruebas del formulario.</a:t>
            </a:r>
            <a:endParaRPr lang="en-US" sz="1400" dirty="0"/>
          </a:p>
        </p:txBody>
      </p:sp>
      <p:sp>
        <p:nvSpPr>
          <p:cNvPr id="6" name="Decision box 2"/>
          <p:cNvSpPr/>
          <p:nvPr/>
        </p:nvSpPr>
        <p:spPr>
          <a:xfrm>
            <a:off x="457200" y="2331720"/>
            <a:ext cx="347472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Decision head 2"/>
          <p:cNvSpPr txBox="1"/>
          <p:nvPr/>
        </p:nvSpPr>
        <p:spPr>
          <a:xfrm>
            <a:off x="1005840" y="2286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CPL calificado objetivo</a:t>
            </a:r>
            <a:endParaRPr lang="en-US" sz="1800" dirty="0"/>
          </a:p>
        </p:txBody>
      </p:sp>
      <p:sp>
        <p:nvSpPr>
          <p:cNvPr id="8" name="Decision body 2"/>
          <p:cNvSpPr txBox="1"/>
          <p:nvPr/>
        </p:nvSpPr>
        <p:spPr>
          <a:xfrm>
            <a:off x="1005840" y="27157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Definir el máximo aceptable. Determina los umbrales de escalado y pausa.</a:t>
            </a:r>
            <a:endParaRPr lang="en-US" sz="1400" dirty="0"/>
          </a:p>
        </p:txBody>
      </p:sp>
      <p:sp>
        <p:nvSpPr>
          <p:cNvPr id="9" name="Decision box 3"/>
          <p:cNvSpPr/>
          <p:nvPr/>
        </p:nvSpPr>
        <p:spPr>
          <a:xfrm>
            <a:off x="457200" y="3474720"/>
            <a:ext cx="347472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Decision head 3"/>
          <p:cNvSpPr txBox="1"/>
          <p:nvPr/>
        </p:nvSpPr>
        <p:spPr>
          <a:xfrm>
            <a:off x="1005840" y="3429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Optimización por lead calificado</a:t>
            </a:r>
            <a:endParaRPr lang="en-US" sz="1800" dirty="0"/>
          </a:p>
        </p:txBody>
      </p:sp>
      <p:sp>
        <p:nvSpPr>
          <p:cNvPr id="11" name="Decision body 3"/>
          <p:cNvSpPr txBox="1"/>
          <p:nvPr/>
        </p:nvSpPr>
        <p:spPr>
          <a:xfrm>
            <a:off x="1005840" y="38587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Aprobar el envío del evento Lead vía CAPI solo cuando la respuesta es "I want to hire.".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chid">
  <a:themeElements>
    <a:clrScheme name="Orchid">
      <a:dk1>
        <a:srgbClr val="1F1235"/>
      </a:dk1>
      <a:lt1>
        <a:srgbClr val="FFFFFF"/>
      </a:lt1>
      <a:dk2>
        <a:srgbClr val="3B1C78"/>
      </a:dk2>
      <a:lt2>
        <a:srgbClr val="F3F0FA"/>
      </a:lt2>
      <a:accent1>
        <a:srgbClr val="F6C343"/>
      </a:accent1>
      <a:accent2>
        <a:srgbClr val="3B1C78"/>
      </a:accent2>
      <a:accent3>
        <a:srgbClr val="8B6FD1"/>
      </a:accent3>
      <a:accent4>
        <a:srgbClr val="2E8B5E"/>
      </a:accent4>
      <a:accent5>
        <a:srgbClr val="C8463A"/>
      </a:accent5>
      <a:accent6>
        <a:srgbClr val="6B6680"/>
      </a:accent6>
      <a:hlink>
        <a:srgbClr val="3B1C78"/>
      </a:hlink>
      <a:folHlink>
        <a:srgbClr val="8B6FD1"/>
      </a:folHlink>
    </a:clrScheme>
    <a:fontScheme name="Orchi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Meta Ads Orchid – Del 29 sep al 11 oct</dc:title>
  <dc:subject>PptxGenJS Presentation</dc:subject>
  <dc:creator>Orchid</dc:creator>
  <cp:lastModifiedBy>Orchid</cp:lastModifiedBy>
  <cp:revision>1</cp:revision>
  <dcterms:created xsi:type="dcterms:W3CDTF">2026-10-12T14:21:00Z</dcterms:created>
  <dcterms:modified xsi:type="dcterms:W3CDTF">2026-10-12T14:21:00Z</dcterms:modified>
</cp:coreProperties>
</file>