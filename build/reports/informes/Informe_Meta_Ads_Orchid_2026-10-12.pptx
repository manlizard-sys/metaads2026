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6f914353-7174-81ba-764e-f7d819d33f31}">
          <p14:sldIdLst>
            <p14:sldId id="256"/>
            <p14:sldId id="257"/>
          </p14:sldIdLst>
        </p14:section>
        <p14:section name="Resultados" id="{6f7e0170-f4ad-aead-fbfb-670bdf5efb98}">
          <p14:sldIdLst>
            <p14:sldId id="258"/>
            <p14:sldId id="259"/>
          </p14:sldIdLst>
        </p14:section>
        <p14:section name="Qué hicimos" id="{6c6e38f4-c2a2-4fe7-cda8-78467961f165}">
          <p14:sldIdLst>
            <p14:sldId id="260"/>
            <p14:sldId id="261"/>
          </p14:sldIdLst>
        </p14:section>
        <p14:section name="Aprendizajes" id="{7536cfe1-3e4b-48e4-bdc1-5ac35f2912bd}">
          <p14:sldIdLst>
            <p14:sldId id="262"/>
          </p14:sldIdLst>
        </p14:section>
        <p14:section name="Anuncios" id="{47484183-e717-cd62-f9c1-460b1534cd9f}">
          <p14:sldIdLst>
            <p14:sldId id="263"/>
            <p14:sldId id="264"/>
            <p14:sldId id="265"/>
          </p14:sldIdLst>
        </p14:section>
        <p14:section name="Próximos pasos" id="{576c564e-d721-b2ae-26e3-8cb41c738ff5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Clics en el enlace</c:v>
                </c:pt>
              </c:strCache>
            </c:strRef>
          </c:tx>
          <c:spPr>
            <a:solidFill>
              <a:srgbClr val="3B1C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1 · 28 sep – 4 oct</c:v>
                  </c:pt>
                  <c:pt idx="1">
                    <c:v>Semana 2 · 5 – 11 oct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183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Landing page views</c:v>
                </c:pt>
              </c:strCache>
            </c:strRef>
          </c:tx>
          <c:spPr>
            <a:solidFill>
              <a:srgbClr val="8B6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1 · 28 sep – 4 oct</c:v>
                  </c:pt>
                  <c:pt idx="1">
                    <c:v>Semana 2 · 5 – 11 oct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145</c:v>
                </c:pt>
                <c:pt idx="1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2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463A"/>
              </a:solidFill>
              <a:effectLst/>
            </c:spPr>
          </c:dPt>
          <c:dPt>
            <c:idx val="1"/>
            <c:bubble3D val="0"/>
            <c:spPr>
              <a:solidFill>
                <a:srgbClr val="2E8B5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No calificado (busca empleo)</c:v>
                </c:pt>
                <c:pt idx="1">
                  <c:v>Calificado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1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Desempeño de la campaña Leads – Hire VA, semanas 1 y 2: resultados, calidad de leads, cambios, hallazgos y decisiones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lead calificado en 2 semanas. Causa identificada (reasignación de presupuesto a S3) y corregida el 12 oct.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Semana 2: CTR 6.46% → 2.21%, CPM $74.49 → $115.40, 0 leads calificados.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campo 'Hiring or job seeking' es el único filtro confiable; las demás respuestas de los no calificados son inconsistentes. KPI: lead calificado en GHL.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oct: se pausó V2, único anuncio con lead calificado. Motivo no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Formulario de GHL simplificado el mismo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Advantage+ Audience asignaba gasto fuera del rango 30–65; desactivado.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previa en feed móvil con el copy vigente desde el 12 oct.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 leads calificados entre ambos.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leads. S6 pausado: el hook 'What does a Virtual Assistant do?' también atrae candidatos.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reporte: lunes 19 oct (semana 12–18 oct).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Insumos necesarios para fijar metas de las próximas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Orchid · Informe Meta Ads · 29 sep – 11 oct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Informe Meta Ads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Periodo: 29 sep – 11 oct 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Reporte de desempeño · Dirección de Orchid · 12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Resumen ejecutivo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685800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$487.54</a:t>
            </a:r>
            <a:endParaRPr lang="en-US" sz="44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Inversión</a:t>
            </a:r>
            <a:endParaRPr lang="en-US" sz="1500" dirty="0"/>
          </a:p>
        </p:txBody>
      </p:sp>
      <p:sp>
        <p:nvSpPr>
          <p:cNvPr id="6" name="Stat note 1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29 sep – 11 oct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3264408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493008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Stat label 2"/>
          <p:cNvSpPr txBox="1"/>
          <p:nvPr/>
        </p:nvSpPr>
        <p:spPr>
          <a:xfrm>
            <a:off x="3493008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Lead calificado</a:t>
            </a:r>
            <a:endParaRPr lang="en-US" sz="1500" dirty="0"/>
          </a:p>
        </p:txBody>
      </p:sp>
      <p:sp>
        <p:nvSpPr>
          <p:cNvPr id="10" name="Stat note 2"/>
          <p:cNvSpPr txBox="1"/>
          <p:nvPr/>
        </p:nvSpPr>
        <p:spPr>
          <a:xfrm>
            <a:off x="349300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V2 · llamada agendada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6071616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00216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$487.54</a:t>
            </a:r>
            <a:endParaRPr lang="en-US" sz="44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00216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CPL calificado</a:t>
            </a:r>
            <a:endParaRPr lang="en-US" sz="15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00216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Inversión ÷ leads calificados</a:t>
            </a:r>
            <a:endParaRPr lang="en-US" sz="1100" dirty="0"/>
          </a:p>
        </p:txBody>
      </p:sp>
      <p:sp>
        <p:nvSpPr>
          <p:cNvPr id="15" name="Summary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Semana 1: delivery concentrado en V2 (82% del gasto).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Semana 2: el algoritmo reasignó el 75% del gasto a S3 (estático), con tráfico de baja intención y 0 leads calificados. Ajustes de segmentación, creativos y copy aplicados el 12 oct.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Semana 2: −71% en clics con +31% de inversión</a:t>
            </a:r>
            <a:endParaRPr lang="en-US" sz="3000" dirty="0"/>
          </a:p>
        </p:txBody>
      </p:sp>
      <p:graphicFrame>
        <p:nvGraphicFramePr>
          <p:cNvPr id="3" name="Clicks chart" descr=""/>
          <p:cNvGraphicFramePr/>
          <p:nvPr/>
        </p:nvGraphicFramePr>
        <p:xfrm>
          <a:off x="365760" y="1051560"/>
          <a:ext cx="4206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Wee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$74.49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(enlace)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(Meta)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calificados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no calificados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Week note"/>
          <p:cNvSpPr txBox="1"/>
          <p:nvPr/>
        </p:nvSpPr>
        <p:spPr>
          <a:xfrm>
            <a:off x="484632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Semana 1: 6 días de delivery (inicio 29 sep).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Calidad de leads: 75% no calificados</a:t>
            </a:r>
            <a:endParaRPr lang="en-US" sz="3000" dirty="0"/>
          </a:p>
        </p:txBody>
      </p:sp>
      <p:graphicFrame>
        <p:nvGraphicFramePr>
          <p:cNvPr id="3" name="Lead quality chart" descr=""/>
          <p:cNvGraphicFramePr/>
          <p:nvPr/>
        </p:nvGraphicFramePr>
        <p:xfrm>
          <a:off x="365760" y="1051560"/>
          <a:ext cx="3200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ead row 1"/>
          <p:cNvSpPr/>
          <p:nvPr/>
        </p:nvSpPr>
        <p:spPr>
          <a:xfrm>
            <a:off x="3840480" y="1143000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ead date 1"/>
          <p:cNvSpPr txBox="1"/>
          <p:nvPr/>
        </p:nvSpPr>
        <p:spPr>
          <a:xfrm>
            <a:off x="3977640" y="1143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oct</a:t>
            </a:r>
            <a:endParaRPr lang="en-US" sz="1200" dirty="0"/>
          </a:p>
        </p:txBody>
      </p:sp>
      <p:sp>
        <p:nvSpPr>
          <p:cNvPr id="6" name="Lead ad 1"/>
          <p:cNvSpPr txBox="1"/>
          <p:nvPr/>
        </p:nvSpPr>
        <p:spPr>
          <a:xfrm>
            <a:off x="4617720" y="114300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V2 Small Law Firm · video</a:t>
            </a:r>
            <a:endParaRPr lang="en-US" sz="1200" dirty="0"/>
          </a:p>
        </p:txBody>
      </p:sp>
      <p:sp>
        <p:nvSpPr>
          <p:cNvPr id="7" name="Lead result 1"/>
          <p:cNvSpPr txBox="1"/>
          <p:nvPr/>
        </p:nvSpPr>
        <p:spPr>
          <a:xfrm>
            <a:off x="6858000" y="11430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Calificado · agendado</a:t>
            </a:r>
            <a:endParaRPr lang="en-US" sz="1200" dirty="0"/>
          </a:p>
        </p:txBody>
      </p:sp>
      <p:sp>
        <p:nvSpPr>
          <p:cNvPr id="8" name="Lead row 2"/>
          <p:cNvSpPr/>
          <p:nvPr/>
        </p:nvSpPr>
        <p:spPr>
          <a:xfrm>
            <a:off x="3840480" y="1709928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ead date 2"/>
          <p:cNvSpPr txBox="1"/>
          <p:nvPr/>
        </p:nvSpPr>
        <p:spPr>
          <a:xfrm>
            <a:off x="3977640" y="170992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oct</a:t>
            </a:r>
            <a:endParaRPr lang="en-US" sz="1200" dirty="0"/>
          </a:p>
        </p:txBody>
      </p:sp>
      <p:sp>
        <p:nvSpPr>
          <p:cNvPr id="10" name="Lead ad 2"/>
          <p:cNvSpPr txBox="1"/>
          <p:nvPr/>
        </p:nvSpPr>
        <p:spPr>
          <a:xfrm>
            <a:off x="4617720" y="1709928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C2 Hey You Offer · carrusel</a:t>
            </a:r>
            <a:endParaRPr lang="en-US" sz="1200" dirty="0"/>
          </a:p>
        </p:txBody>
      </p:sp>
      <p:sp>
        <p:nvSpPr>
          <p:cNvPr id="11" name="Lead result 2"/>
          <p:cNvSpPr txBox="1"/>
          <p:nvPr/>
        </p:nvSpPr>
        <p:spPr>
          <a:xfrm>
            <a:off x="6858000" y="170992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 calificado</a:t>
            </a:r>
            <a:endParaRPr lang="en-US" sz="1200" dirty="0"/>
          </a:p>
        </p:txBody>
      </p:sp>
      <p:sp>
        <p:nvSpPr>
          <p:cNvPr id="12" name="Lead row 3"/>
          <p:cNvSpPr/>
          <p:nvPr/>
        </p:nvSpPr>
        <p:spPr>
          <a:xfrm>
            <a:off x="3840480" y="2276856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ead date 3"/>
          <p:cNvSpPr txBox="1"/>
          <p:nvPr/>
        </p:nvSpPr>
        <p:spPr>
          <a:xfrm>
            <a:off x="3977640" y="227685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 oct</a:t>
            </a:r>
            <a:endParaRPr lang="en-US" sz="1200" dirty="0"/>
          </a:p>
        </p:txBody>
      </p:sp>
      <p:sp>
        <p:nvSpPr>
          <p:cNvPr id="14" name="Lead ad 3"/>
          <p:cNvSpPr txBox="1"/>
          <p:nvPr/>
        </p:nvSpPr>
        <p:spPr>
          <a:xfrm>
            <a:off x="4617720" y="227685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S3 Vetting · estático</a:t>
            </a:r>
            <a:endParaRPr lang="en-US" sz="1200" dirty="0"/>
          </a:p>
        </p:txBody>
      </p:sp>
      <p:sp>
        <p:nvSpPr>
          <p:cNvPr id="15" name="Lead result 3"/>
          <p:cNvSpPr txBox="1"/>
          <p:nvPr/>
        </p:nvSpPr>
        <p:spPr>
          <a:xfrm>
            <a:off x="6858000" y="227685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 calificado</a:t>
            </a:r>
            <a:endParaRPr lang="en-US" sz="1200" dirty="0"/>
          </a:p>
        </p:txBody>
      </p:sp>
      <p:sp>
        <p:nvSpPr>
          <p:cNvPr id="16" name="Lead row 4"/>
          <p:cNvSpPr/>
          <p:nvPr/>
        </p:nvSpPr>
        <p:spPr>
          <a:xfrm>
            <a:off x="3840480" y="2843784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Lead date 4"/>
          <p:cNvSpPr txBox="1"/>
          <p:nvPr/>
        </p:nvSpPr>
        <p:spPr>
          <a:xfrm>
            <a:off x="3977640" y="284378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11 oct</a:t>
            </a:r>
            <a:endParaRPr lang="en-US" sz="1200" dirty="0"/>
          </a:p>
        </p:txBody>
      </p:sp>
      <p:sp>
        <p:nvSpPr>
          <p:cNvPr id="18" name="Lead ad 4"/>
          <p:cNvSpPr txBox="1"/>
          <p:nvPr/>
        </p:nvSpPr>
        <p:spPr>
          <a:xfrm>
            <a:off x="4617720" y="2843784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S3 Vetting · estático</a:t>
            </a:r>
            <a:endParaRPr lang="en-US" sz="1200" dirty="0"/>
          </a:p>
        </p:txBody>
      </p:sp>
      <p:sp>
        <p:nvSpPr>
          <p:cNvPr id="19" name="Lead result 4"/>
          <p:cNvSpPr txBox="1"/>
          <p:nvPr/>
        </p:nvSpPr>
        <p:spPr>
          <a:xfrm>
            <a:off x="6858000" y="284378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 calificado</a:t>
            </a:r>
            <a:endParaRPr lang="en-US" sz="1200" dirty="0"/>
          </a:p>
        </p:txBody>
      </p:sp>
      <p:sp>
        <p:nvSpPr>
          <p:cNvPr id="20" name="Unattributed note"/>
          <p:cNvSpPr txBox="1"/>
          <p:nvPr/>
        </p:nvSpPr>
        <p:spPr>
          <a:xfrm>
            <a:off x="3840480" y="3520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Pendiente: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leads calificados del 11 oct sin atribución (tráfico directo, sin UTM).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Cronología de cambios</a:t>
            </a:r>
            <a:endParaRPr lang="en-US" sz="3000" dirty="0"/>
          </a:p>
        </p:txBody>
      </p:sp>
      <p:sp>
        <p:nvSpPr>
          <p:cNvPr id="3" name="Timeline line"/>
          <p:cNvSpPr/>
          <p:nvPr/>
        </p:nvSpPr>
        <p:spPr>
          <a:xfrm>
            <a:off x="822960" y="1700784"/>
            <a:ext cx="749808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63093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meline dot 1 label"/>
          <p:cNvSpPr txBox="1"/>
          <p:nvPr/>
        </p:nvSpPr>
        <p:spPr>
          <a:xfrm>
            <a:off x="6309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imeline date 1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29 sep</a:t>
            </a:r>
            <a:endParaRPr lang="en-US" sz="1300" dirty="0"/>
          </a:p>
        </p:txBody>
      </p:sp>
      <p:sp>
        <p:nvSpPr>
          <p:cNvPr id="7" name="Timeline head 1"/>
          <p:cNvSpPr txBox="1"/>
          <p:nvPr/>
        </p:nvSpPr>
        <p:spPr>
          <a:xfrm>
            <a:off x="45720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Lanzamiento</a:t>
            </a:r>
            <a:endParaRPr lang="en-US" sz="1700" dirty="0"/>
          </a:p>
        </p:txBody>
      </p:sp>
      <p:sp>
        <p:nvSpPr>
          <p:cNvPr id="8" name="Timeline body 1"/>
          <p:cNvSpPr txBox="1"/>
          <p:nvPr/>
        </p:nvSpPr>
        <p:spPr>
          <a:xfrm>
            <a:off x="45720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Campaña ABO, objetivo Leads. 4 videos y 2 carruseles.</a:t>
            </a:r>
            <a:endParaRPr lang="en-US" sz="1300" dirty="0"/>
          </a:p>
        </p:txBody>
      </p:sp>
      <p:sp>
        <p:nvSpPr>
          <p:cNvPr id="9" name="Timeline dot 2"/>
          <p:cNvSpPr/>
          <p:nvPr/>
        </p:nvSpPr>
        <p:spPr>
          <a:xfrm>
            <a:off x="273405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imeline dot 2 label"/>
          <p:cNvSpPr txBox="1"/>
          <p:nvPr/>
        </p:nvSpPr>
        <p:spPr>
          <a:xfrm>
            <a:off x="27340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imeline date 2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 oct</a:t>
            </a:r>
            <a:endParaRPr lang="en-US" sz="1300" dirty="0"/>
          </a:p>
        </p:txBody>
      </p:sp>
      <p:sp>
        <p:nvSpPr>
          <p:cNvPr id="12" name="Timeline head 2"/>
          <p:cNvSpPr txBox="1"/>
          <p:nvPr/>
        </p:nvSpPr>
        <p:spPr>
          <a:xfrm>
            <a:off x="256032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creativa</a:t>
            </a:r>
            <a:endParaRPr lang="en-US" sz="1700" dirty="0"/>
          </a:p>
        </p:txBody>
      </p:sp>
      <p:sp>
        <p:nvSpPr>
          <p:cNvPr id="13" name="Timeline body 2"/>
          <p:cNvSpPr txBox="1"/>
          <p:nvPr/>
        </p:nvSpPr>
        <p:spPr>
          <a:xfrm>
            <a:off x="256032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+8 estáticos (S1–S8).</a:t>
            </a:r>
            <a:endParaRPr lang="en-US" sz="1300" dirty="0"/>
          </a:p>
        </p:txBody>
      </p:sp>
      <p:sp>
        <p:nvSpPr>
          <p:cNvPr id="14" name="Timeline dot 3"/>
          <p:cNvSpPr/>
          <p:nvPr/>
        </p:nvSpPr>
        <p:spPr>
          <a:xfrm>
            <a:off x="483717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imeline dot 3 label"/>
          <p:cNvSpPr txBox="1"/>
          <p:nvPr/>
        </p:nvSpPr>
        <p:spPr>
          <a:xfrm>
            <a:off x="483717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imeline date 3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11 oct</a:t>
            </a:r>
            <a:endParaRPr lang="en-US" sz="1300" dirty="0"/>
          </a:p>
        </p:txBody>
      </p:sp>
      <p:sp>
        <p:nvSpPr>
          <p:cNvPr id="17" name="Timeline head 3"/>
          <p:cNvSpPr txBox="1"/>
          <p:nvPr/>
        </p:nvSpPr>
        <p:spPr>
          <a:xfrm>
            <a:off x="466344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manual</a:t>
            </a:r>
            <a:endParaRPr lang="en-US" sz="1700" dirty="0"/>
          </a:p>
        </p:txBody>
      </p:sp>
      <p:sp>
        <p:nvSpPr>
          <p:cNvPr id="18" name="Timeline body 3"/>
          <p:cNvSpPr txBox="1"/>
          <p:nvPr/>
        </p:nvSpPr>
        <p:spPr>
          <a:xfrm>
            <a:off x="466344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Pausa de videos y carruseles; activos solo S1, S6 y S8.</a:t>
            </a:r>
            <a:endParaRPr lang="en-US" sz="1300" dirty="0"/>
          </a:p>
        </p:txBody>
      </p:sp>
      <p:sp>
        <p:nvSpPr>
          <p:cNvPr id="19" name="Timeline dot 4"/>
          <p:cNvSpPr/>
          <p:nvPr/>
        </p:nvSpPr>
        <p:spPr>
          <a:xfrm>
            <a:off x="6940296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imeline dot 4 label"/>
          <p:cNvSpPr txBox="1"/>
          <p:nvPr/>
        </p:nvSpPr>
        <p:spPr>
          <a:xfrm>
            <a:off x="69402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imeline date 4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12 oct</a:t>
            </a:r>
            <a:endParaRPr lang="en-US" sz="1300" dirty="0"/>
          </a:p>
        </p:txBody>
      </p:sp>
      <p:sp>
        <p:nvSpPr>
          <p:cNvPr id="22" name="Timeline head 4"/>
          <p:cNvSpPr txBox="1"/>
          <p:nvPr/>
        </p:nvSpPr>
        <p:spPr>
          <a:xfrm>
            <a:off x="676656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</a:t>
            </a:r>
            <a:endParaRPr lang="en-US" sz="1700" dirty="0"/>
          </a:p>
        </p:txBody>
      </p:sp>
      <p:sp>
        <p:nvSpPr>
          <p:cNvPr id="23" name="Timeline body 4"/>
          <p:cNvSpPr txBox="1"/>
          <p:nvPr/>
        </p:nvSpPr>
        <p:spPr>
          <a:xfrm>
            <a:off x="676656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Integración con GHL; ajustes de segmentación, creativos y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Optimización del 12 oct</a:t>
            </a:r>
            <a:endParaRPr lang="en-US" sz="3000" dirty="0"/>
          </a:p>
        </p:txBody>
      </p:sp>
      <p:sp>
        <p:nvSpPr>
          <p:cNvPr id="3" name="Fix card 1"/>
          <p:cNvSpPr/>
          <p:nvPr/>
        </p:nvSpPr>
        <p:spPr>
          <a:xfrm>
            <a:off x="457200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ix dot 1"/>
          <p:cNvSpPr/>
          <p:nvPr/>
        </p:nvSpPr>
        <p:spPr>
          <a:xfrm>
            <a:off x="6858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ix dot 1 label"/>
          <p:cNvSpPr txBox="1"/>
          <p:nvPr/>
        </p:nvSpPr>
        <p:spPr>
          <a:xfrm>
            <a:off x="685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ix head 1"/>
          <p:cNvSpPr txBox="1"/>
          <p:nvPr/>
        </p:nvSpPr>
        <p:spPr>
          <a:xfrm>
            <a:off x="1188720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Audiencia</a:t>
            </a:r>
            <a:endParaRPr lang="en-US" sz="1800" dirty="0"/>
          </a:p>
        </p:txBody>
      </p:sp>
      <p:sp>
        <p:nvSpPr>
          <p:cNvPr id="7" name="Fix body 1"/>
          <p:cNvSpPr txBox="1"/>
          <p:nvPr/>
        </p:nvSpPr>
        <p:spPr>
          <a:xfrm>
            <a:off x="685800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Advantage+ Audience desactivado (gasto en 18–34).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Edad 30–65 como límite estricto.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Ubicación: residentes en EE. UU.</a:t>
            </a:r>
            <a:endParaRPr lang="en-US" sz="1300" dirty="0"/>
          </a:p>
        </p:txBody>
      </p:sp>
      <p:sp>
        <p:nvSpPr>
          <p:cNvPr id="8" name="Fix card 2"/>
          <p:cNvSpPr/>
          <p:nvPr/>
        </p:nvSpPr>
        <p:spPr>
          <a:xfrm>
            <a:off x="3264408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ix dot 2"/>
          <p:cNvSpPr/>
          <p:nvPr/>
        </p:nvSpPr>
        <p:spPr>
          <a:xfrm>
            <a:off x="3493008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ix dot 2 label"/>
          <p:cNvSpPr txBox="1"/>
          <p:nvPr/>
        </p:nvSpPr>
        <p:spPr>
          <a:xfrm>
            <a:off x="3493008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Fix head 2"/>
          <p:cNvSpPr txBox="1"/>
          <p:nvPr/>
        </p:nvSpPr>
        <p:spPr>
          <a:xfrm>
            <a:off x="3995928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Anuncios</a:t>
            </a:r>
            <a:endParaRPr lang="en-US" sz="1800" dirty="0"/>
          </a:p>
        </p:txBody>
      </p:sp>
      <p:sp>
        <p:nvSpPr>
          <p:cNvPr id="12" name="Fix body 2"/>
          <p:cNvSpPr txBox="1"/>
          <p:nvPr/>
        </p:nvSpPr>
        <p:spPr>
          <a:xfrm>
            <a:off x="3493008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V2 reactivado (único con lead calificado).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V1 reactivado (CTR 28%).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S1 y S6 pausados; S8 activo.</a:t>
            </a:r>
            <a:endParaRPr lang="en-US" sz="1300" dirty="0"/>
          </a:p>
        </p:txBody>
      </p:sp>
      <p:sp>
        <p:nvSpPr>
          <p:cNvPr id="13" name="Fix card 3"/>
          <p:cNvSpPr/>
          <p:nvPr/>
        </p:nvSpPr>
        <p:spPr>
          <a:xfrm>
            <a:off x="6071616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ix dot 3"/>
          <p:cNvSpPr/>
          <p:nvPr/>
        </p:nvSpPr>
        <p:spPr>
          <a:xfrm>
            <a:off x="6300216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x dot 3 label"/>
          <p:cNvSpPr txBox="1"/>
          <p:nvPr/>
        </p:nvSpPr>
        <p:spPr>
          <a:xfrm>
            <a:off x="6300216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Fix head 3"/>
          <p:cNvSpPr txBox="1"/>
          <p:nvPr/>
        </p:nvSpPr>
        <p:spPr>
          <a:xfrm>
            <a:off x="6803136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</a:t>
            </a:r>
            <a:endParaRPr lang="en-US" sz="1800" dirty="0"/>
          </a:p>
        </p:txBody>
      </p:sp>
      <p:sp>
        <p:nvSpPr>
          <p:cNvPr id="17" name="Fix body 3"/>
          <p:cNvSpPr txBox="1"/>
          <p:nvPr/>
        </p:nvSpPr>
        <p:spPr>
          <a:xfrm>
            <a:off x="6300216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Hook dirigido al comprador ("Law firm owners:").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Precio visible: desde $1,000/mes.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Sin términos asociados a empleo.</a:t>
            </a:r>
            <a:endParaRPr lang="en-US" sz="1300" dirty="0"/>
          </a:p>
        </p:txBody>
      </p:sp>
      <p:sp>
        <p:nvSpPr>
          <p:cNvPr id="18" name="Exclusions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Exclusión de intereses de empleo no disponible: Meta retiró las exclusiones de segmentación detallada.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Hallazgos</a:t>
            </a:r>
            <a:endParaRPr lang="en-US" sz="3000" dirty="0"/>
          </a:p>
        </p:txBody>
      </p:sp>
      <p:sp>
        <p:nvSpPr>
          <p:cNvPr id="3" name="Learning dot 1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Learning dot 1 label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Learning head 1"/>
          <p:cNvSpPr txBox="1"/>
          <p:nvPr/>
        </p:nvSpPr>
        <p:spPr>
          <a:xfrm>
            <a:off x="1051560" y="1051560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V2 es el único creativo con lead calificado.</a:t>
            </a:r>
            <a:endParaRPr lang="en-US" sz="1600" dirty="0"/>
          </a:p>
        </p:txBody>
      </p:sp>
      <p:sp>
        <p:nvSpPr>
          <p:cNvPr id="6" name="Learning body 1"/>
          <p:cNvSpPr txBox="1"/>
          <p:nvPr/>
        </p:nvSpPr>
        <p:spPr>
          <a:xfrm>
            <a:off x="1051560" y="14356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 de gasto: 82% en semana 1, 21% en semana 2.</a:t>
            </a:r>
            <a:endParaRPr lang="en-US" sz="1300" dirty="0"/>
          </a:p>
        </p:txBody>
      </p:sp>
      <p:sp>
        <p:nvSpPr>
          <p:cNvPr id="7" name="Learning dot 2"/>
          <p:cNvSpPr/>
          <p:nvPr/>
        </p:nvSpPr>
        <p:spPr>
          <a:xfrm>
            <a:off x="457200" y="19933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earning dot 2 label"/>
          <p:cNvSpPr txBox="1"/>
          <p:nvPr/>
        </p:nvSpPr>
        <p:spPr>
          <a:xfrm>
            <a:off x="4572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Learning head 2"/>
          <p:cNvSpPr txBox="1"/>
          <p:nvPr/>
        </p:nvSpPr>
        <p:spPr>
          <a:xfrm>
            <a:off x="1051560" y="1947672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S3 genera tráfico de baja intención.</a:t>
            </a:r>
            <a:endParaRPr lang="en-US" sz="1600" dirty="0"/>
          </a:p>
        </p:txBody>
      </p:sp>
      <p:sp>
        <p:nvSpPr>
          <p:cNvPr id="10" name="Learning body 2"/>
          <p:cNvSpPr txBox="1"/>
          <p:nvPr/>
        </p:nvSpPr>
        <p:spPr>
          <a:xfrm>
            <a:off x="1051560" y="23317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$207.45 en semana 2, CTR 1.6%, 2 leads no calificados.</a:t>
            </a:r>
            <a:endParaRPr lang="en-US" sz="1300" dirty="0"/>
          </a:p>
        </p:txBody>
      </p:sp>
      <p:sp>
        <p:nvSpPr>
          <p:cNvPr id="11" name="Learning dot 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arning dot 3 label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Learning head 3"/>
          <p:cNvSpPr txBox="1"/>
          <p:nvPr/>
        </p:nvSpPr>
        <p:spPr>
          <a:xfrm>
            <a:off x="1051560" y="2843784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evento Lead de Meta no refleja calidad.</a:t>
            </a:r>
            <a:endParaRPr lang="en-US" sz="1600" dirty="0"/>
          </a:p>
        </p:txBody>
      </p:sp>
      <p:sp>
        <p:nvSpPr>
          <p:cNvPr id="14" name="Learning body 3"/>
          <p:cNvSpPr txBox="1"/>
          <p:nvPr/>
        </p:nvSpPr>
        <p:spPr>
          <a:xfrm>
            <a:off x="1051560" y="3227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de 4 leads atribuidos no calificados. KPI: CPL calificado (GHL).</a:t>
            </a:r>
            <a:endParaRPr lang="en-US" sz="1300" dirty="0"/>
          </a:p>
        </p:txBody>
      </p:sp>
      <p:sp>
        <p:nvSpPr>
          <p:cNvPr id="15" name="Learning dot 4"/>
          <p:cNvSpPr/>
          <p:nvPr/>
        </p:nvSpPr>
        <p:spPr>
          <a:xfrm>
            <a:off x="45720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earning dot 4 label"/>
          <p:cNvSpPr txBox="1"/>
          <p:nvPr/>
        </p:nvSpPr>
        <p:spPr>
          <a:xfrm>
            <a:off x="45720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arning head 4"/>
          <p:cNvSpPr txBox="1"/>
          <p:nvPr/>
        </p:nvSpPr>
        <p:spPr>
          <a:xfrm>
            <a:off x="1051560" y="3739896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V1 y V4: CTR de 23–29% con gasto marginal.</a:t>
            </a:r>
            <a:endParaRPr lang="en-US" sz="1600" dirty="0"/>
          </a:p>
        </p:txBody>
      </p:sp>
      <p:sp>
        <p:nvSpPr>
          <p:cNvPr id="18" name="Learning body 4"/>
          <p:cNvSpPr txBox="1"/>
          <p:nvPr/>
        </p:nvSpPr>
        <p:spPr>
          <a:xfrm>
            <a:off x="1051560" y="41239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 volumen para evaluar conversión; V1 reactivado en prueba.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activos (copy v3)</a:t>
            </a:r>
            <a:endParaRPr lang="en-US" sz="3000" dirty="0"/>
          </a:p>
        </p:txBody>
      </p:sp>
      <p:pic>
        <p:nvPicPr>
          <p:cNvPr id="3" name="Capture V2 Small Law Firm · video" descr="Capture V2 Small Law Firm · 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Active name 1"/>
          <p:cNvSpPr txBox="1"/>
          <p:nvPr/>
        </p:nvSpPr>
        <p:spPr>
          <a:xfrm>
            <a:off x="1962337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V2 Small Law Firm · video</a:t>
            </a:r>
            <a:endParaRPr lang="en-US" sz="1300" dirty="0"/>
          </a:p>
        </p:txBody>
      </p:sp>
      <p:sp>
        <p:nvSpPr>
          <p:cNvPr id="5" name="Active nums 1"/>
          <p:cNvSpPr txBox="1"/>
          <p:nvPr/>
        </p:nvSpPr>
        <p:spPr>
          <a:xfrm>
            <a:off x="1962337" y="1783080"/>
            <a:ext cx="11100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$230.30 · 133 clics</a:t>
            </a:r>
            <a:endParaRPr lang="en-US" sz="1200" dirty="0"/>
          </a:p>
        </p:txBody>
      </p:sp>
      <p:sp>
        <p:nvSpPr>
          <p:cNvPr id="6" name="Active result 1"/>
          <p:cNvSpPr txBox="1"/>
          <p:nvPr/>
        </p:nvSpPr>
        <p:spPr>
          <a:xfrm>
            <a:off x="1962337" y="233172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lead calificado (agendado)</a:t>
            </a:r>
            <a:endParaRPr lang="en-US" sz="1200" dirty="0"/>
          </a:p>
        </p:txBody>
      </p:sp>
      <p:pic>
        <p:nvPicPr>
          <p:cNvPr id="7" name="Capture V1 POV Email · video" descr="Capture V1 POV Email · 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575171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8" name="Active name 2"/>
          <p:cNvSpPr txBox="1"/>
          <p:nvPr/>
        </p:nvSpPr>
        <p:spPr>
          <a:xfrm>
            <a:off x="4976739" y="1097280"/>
            <a:ext cx="9028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V1 POV Email · video</a:t>
            </a:r>
            <a:endParaRPr lang="en-US" sz="1300" dirty="0"/>
          </a:p>
        </p:txBody>
      </p:sp>
      <p:sp>
        <p:nvSpPr>
          <p:cNvPr id="9" name="Active nums 2"/>
          <p:cNvSpPr txBox="1"/>
          <p:nvPr/>
        </p:nvSpPr>
        <p:spPr>
          <a:xfrm>
            <a:off x="4976739" y="1783080"/>
            <a:ext cx="9028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$3.05 · 34 clics</a:t>
            </a:r>
            <a:endParaRPr lang="en-US" sz="1200" dirty="0"/>
          </a:p>
        </p:txBody>
      </p:sp>
      <p:sp>
        <p:nvSpPr>
          <p:cNvPr id="10" name="Active result 2"/>
          <p:cNvSpPr txBox="1"/>
          <p:nvPr/>
        </p:nvSpPr>
        <p:spPr>
          <a:xfrm>
            <a:off x="4976739" y="2331720"/>
            <a:ext cx="9028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Sin leads · en prueba</a:t>
            </a:r>
            <a:endParaRPr lang="en-US" sz="1200" dirty="0"/>
          </a:p>
        </p:txBody>
      </p:sp>
      <p:pic>
        <p:nvPicPr>
          <p:cNvPr id="11" name="Capture S8 Comparison · estático" descr="Capture S8 Comparison · estátic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2" name="Active name 3"/>
          <p:cNvSpPr txBox="1"/>
          <p:nvPr/>
        </p:nvSpPr>
        <p:spPr>
          <a:xfrm>
            <a:off x="7576753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S8 Comparison · estático</a:t>
            </a:r>
            <a:endParaRPr lang="en-US" sz="1300" dirty="0"/>
          </a:p>
        </p:txBody>
      </p:sp>
      <p:sp>
        <p:nvSpPr>
          <p:cNvPr id="13" name="Active nums 3"/>
          <p:cNvSpPr txBox="1"/>
          <p:nvPr/>
        </p:nvSpPr>
        <p:spPr>
          <a:xfrm>
            <a:off x="7576753" y="1783080"/>
            <a:ext cx="11100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$2.62 · 1 clic</a:t>
            </a:r>
            <a:endParaRPr lang="en-US" sz="1200" dirty="0"/>
          </a:p>
        </p:txBody>
      </p:sp>
      <p:sp>
        <p:nvSpPr>
          <p:cNvPr id="14" name="Active result 3"/>
          <p:cNvSpPr txBox="1"/>
          <p:nvPr/>
        </p:nvSpPr>
        <p:spPr>
          <a:xfrm>
            <a:off x="7576753" y="233172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Sin leads</a:t>
            </a:r>
            <a:endParaRPr lang="en-US" sz="1200" dirty="0"/>
          </a:p>
        </p:txBody>
      </p:sp>
      <p:sp>
        <p:nvSpPr>
          <p:cNvPr id="15" name="Active note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Acumulado 29 sep – 11 oct. En videos se muestra la miniatura.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con leads no calificados</a:t>
            </a:r>
            <a:endParaRPr lang="en-US" sz="3000" dirty="0"/>
          </a:p>
        </p:txBody>
      </p:sp>
      <p:pic>
        <p:nvPicPr>
          <p:cNvPr id="3" name="Capture S3 Vetting · estático" descr="Capture S3 Vetting · estát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618109" cy="32918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Bad name 1"/>
          <p:cNvSpPr txBox="1"/>
          <p:nvPr/>
        </p:nvSpPr>
        <p:spPr>
          <a:xfrm>
            <a:off x="2258189" y="1143000"/>
            <a:ext cx="22223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S3 Vetting · estático</a:t>
            </a:r>
            <a:endParaRPr lang="en-US" sz="1500" dirty="0"/>
          </a:p>
        </p:txBody>
      </p:sp>
      <p:sp>
        <p:nvSpPr>
          <p:cNvPr id="5" name="Bad nums 1"/>
          <p:cNvSpPr txBox="1"/>
          <p:nvPr/>
        </p:nvSpPr>
        <p:spPr>
          <a:xfrm>
            <a:off x="2258189" y="1554480"/>
            <a:ext cx="2222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$220.20 · 35 clics · CTR 1.6%</a:t>
            </a:r>
            <a:endParaRPr lang="en-US" sz="1200" dirty="0"/>
          </a:p>
        </p:txBody>
      </p:sp>
      <p:sp>
        <p:nvSpPr>
          <p:cNvPr id="6" name="Bad result 1"/>
          <p:cNvSpPr txBox="1"/>
          <p:nvPr/>
        </p:nvSpPr>
        <p:spPr>
          <a:xfrm>
            <a:off x="2258189" y="2057400"/>
            <a:ext cx="222237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2 leads no calificados</a:t>
            </a:r>
            <a:endParaRPr lang="en-US" sz="1300" dirty="0"/>
          </a:p>
        </p:txBody>
      </p:sp>
      <p:sp>
        <p:nvSpPr>
          <p:cNvPr id="7" name="Bad why 1"/>
          <p:cNvSpPr txBox="1"/>
          <p:nvPr/>
        </p:nvSpPr>
        <p:spPr>
          <a:xfrm>
            <a:off x="2258189" y="2423160"/>
            <a:ext cx="22223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75% del gasto de la semana 2.</a:t>
            </a:r>
            <a:endParaRPr lang="en-US" sz="1200" dirty="0"/>
          </a:p>
        </p:txBody>
      </p:sp>
      <p:sp>
        <p:nvSpPr>
          <p:cNvPr id="8" name="Bad status 1"/>
          <p:cNvSpPr txBox="1"/>
          <p:nvPr/>
        </p:nvSpPr>
        <p:spPr>
          <a:xfrm>
            <a:off x="2258189" y="3291840"/>
            <a:ext cx="22223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Pausado</a:t>
            </a:r>
            <a:endParaRPr lang="en-US" sz="1100" dirty="0"/>
          </a:p>
        </p:txBody>
      </p:sp>
      <p:pic>
        <p:nvPicPr>
          <p:cNvPr id="9" name="Capture C2 Hey You Offer · carrusel" descr="Capture C2 Hey You Offer · carrus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51560"/>
            <a:ext cx="1844814" cy="32918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0" name="Bad name 2"/>
          <p:cNvSpPr txBox="1"/>
          <p:nvPr/>
        </p:nvSpPr>
        <p:spPr>
          <a:xfrm>
            <a:off x="6691134" y="1143000"/>
            <a:ext cx="1995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C2 Hey You Offer · carrusel</a:t>
            </a:r>
            <a:endParaRPr lang="en-US" sz="1500" dirty="0"/>
          </a:p>
        </p:txBody>
      </p:sp>
      <p:sp>
        <p:nvSpPr>
          <p:cNvPr id="11" name="Bad nums 2"/>
          <p:cNvSpPr txBox="1"/>
          <p:nvPr/>
        </p:nvSpPr>
        <p:spPr>
          <a:xfrm>
            <a:off x="6691134" y="1554480"/>
            <a:ext cx="1995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$11.19 · 12 clics</a:t>
            </a:r>
            <a:endParaRPr lang="en-US" sz="1200" dirty="0"/>
          </a:p>
        </p:txBody>
      </p:sp>
      <p:sp>
        <p:nvSpPr>
          <p:cNvPr id="12" name="Bad result 2"/>
          <p:cNvSpPr txBox="1"/>
          <p:nvPr/>
        </p:nvSpPr>
        <p:spPr>
          <a:xfrm>
            <a:off x="6691134" y="2057400"/>
            <a:ext cx="19956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 lead no calificado</a:t>
            </a:r>
            <a:endParaRPr lang="en-US" sz="1300" dirty="0"/>
          </a:p>
        </p:txBody>
      </p:sp>
      <p:sp>
        <p:nvSpPr>
          <p:cNvPr id="13" name="Bad why 2"/>
          <p:cNvSpPr txBox="1"/>
          <p:nvPr/>
        </p:nvSpPr>
        <p:spPr>
          <a:xfrm>
            <a:off x="6691134" y="2423160"/>
            <a:ext cx="1995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Oferta tipo "regalo": tráfico de baja intención.</a:t>
            </a:r>
            <a:endParaRPr lang="en-US" sz="1200" dirty="0"/>
          </a:p>
        </p:txBody>
      </p:sp>
      <p:sp>
        <p:nvSpPr>
          <p:cNvPr id="14" name="Bad status 2"/>
          <p:cNvSpPr txBox="1"/>
          <p:nvPr/>
        </p:nvSpPr>
        <p:spPr>
          <a:xfrm>
            <a:off x="6691134" y="3291840"/>
            <a:ext cx="1995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Pausado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pausados sin conversiones</a:t>
            </a:r>
            <a:endParaRPr lang="en-US" sz="3000" dirty="0"/>
          </a:p>
        </p:txBody>
      </p:sp>
      <p:pic>
        <p:nvPicPr>
          <p:cNvPr id="3" name="Capture V3 Vetting Process" descr="Capture V3 Vetting Pro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270" y="1051560"/>
            <a:ext cx="1303476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Other name 1"/>
          <p:cNvSpPr txBox="1"/>
          <p:nvPr/>
        </p:nvSpPr>
        <p:spPr>
          <a:xfrm>
            <a:off x="457200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V3 Vetting Process</a:t>
            </a:r>
            <a:endParaRPr lang="en-US" sz="1200" dirty="0"/>
          </a:p>
        </p:txBody>
      </p:sp>
      <p:sp>
        <p:nvSpPr>
          <p:cNvPr id="5" name="Other nums 1"/>
          <p:cNvSpPr txBox="1"/>
          <p:nvPr/>
        </p:nvSpPr>
        <p:spPr>
          <a:xfrm>
            <a:off x="457200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$12.43 · 6 clics</a:t>
            </a:r>
            <a:endParaRPr lang="en-US" sz="1100" dirty="0"/>
          </a:p>
        </p:txBody>
      </p:sp>
      <p:pic>
        <p:nvPicPr>
          <p:cNvPr id="6" name="Capture S6 What VA Does" descr="Capture S6 What VA Do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08" y="1051560"/>
            <a:ext cx="1344791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7" name="Other name 2"/>
          <p:cNvSpPr txBox="1"/>
          <p:nvPr/>
        </p:nvSpPr>
        <p:spPr>
          <a:xfrm>
            <a:off x="2139696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S6 What VA Does</a:t>
            </a:r>
            <a:endParaRPr lang="en-US" sz="1200" dirty="0"/>
          </a:p>
        </p:txBody>
      </p:sp>
      <p:sp>
        <p:nvSpPr>
          <p:cNvPr id="8" name="Other nums 2"/>
          <p:cNvSpPr txBox="1"/>
          <p:nvPr/>
        </p:nvSpPr>
        <p:spPr>
          <a:xfrm>
            <a:off x="2139696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$4.76 · 2 clics</a:t>
            </a:r>
            <a:endParaRPr lang="en-US" sz="1100" dirty="0"/>
          </a:p>
        </p:txBody>
      </p:sp>
      <p:pic>
        <p:nvPicPr>
          <p:cNvPr id="9" name="Capture V4 Founder Story" descr="Capture V4 Founder 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392" y="1051560"/>
            <a:ext cx="1351215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0" name="Other name 3"/>
          <p:cNvSpPr txBox="1"/>
          <p:nvPr/>
        </p:nvSpPr>
        <p:spPr>
          <a:xfrm>
            <a:off x="3822192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V4 Founder Story</a:t>
            </a:r>
            <a:endParaRPr lang="en-US" sz="1200" dirty="0"/>
          </a:p>
        </p:txBody>
      </p:sp>
      <p:sp>
        <p:nvSpPr>
          <p:cNvPr id="11" name="Other nums 3"/>
          <p:cNvSpPr txBox="1"/>
          <p:nvPr/>
        </p:nvSpPr>
        <p:spPr>
          <a:xfrm>
            <a:off x="3822192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$2.42 · 12 clics</a:t>
            </a:r>
            <a:endParaRPr lang="en-US" sz="1100" dirty="0"/>
          </a:p>
        </p:txBody>
      </p:sp>
      <p:pic>
        <p:nvPicPr>
          <p:cNvPr id="12" name="Capture C1 Guilty" descr="Capture C1 Guil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4475" y="1051560"/>
            <a:ext cx="1540042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3" name="Other name 4"/>
          <p:cNvSpPr txBox="1"/>
          <p:nvPr/>
        </p:nvSpPr>
        <p:spPr>
          <a:xfrm>
            <a:off x="5504688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C1 Guilty</a:t>
            </a:r>
            <a:endParaRPr lang="en-US" sz="1200" dirty="0"/>
          </a:p>
        </p:txBody>
      </p:sp>
      <p:sp>
        <p:nvSpPr>
          <p:cNvPr id="14" name="Other nums 4"/>
          <p:cNvSpPr txBox="1"/>
          <p:nvPr/>
        </p:nvSpPr>
        <p:spPr>
          <a:xfrm>
            <a:off x="5504688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$0.52 · 1 clic</a:t>
            </a:r>
            <a:endParaRPr lang="en-US" sz="1100" dirty="0"/>
          </a:p>
        </p:txBody>
      </p:sp>
      <p:pic>
        <p:nvPicPr>
          <p:cNvPr id="15" name="Capture S1 Cost" descr="Capture S1 Co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4596" y="1051560"/>
            <a:ext cx="1344791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6" name="Other name 5"/>
          <p:cNvSpPr txBox="1"/>
          <p:nvPr/>
        </p:nvSpPr>
        <p:spPr>
          <a:xfrm>
            <a:off x="7187184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S1 Cost</a:t>
            </a:r>
            <a:endParaRPr lang="en-US" sz="1200" dirty="0"/>
          </a:p>
        </p:txBody>
      </p:sp>
      <p:sp>
        <p:nvSpPr>
          <p:cNvPr id="17" name="Other nums 5"/>
          <p:cNvSpPr txBox="1"/>
          <p:nvPr/>
        </p:nvSpPr>
        <p:spPr>
          <a:xfrm>
            <a:off x="7187184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$0.05 · 0 clics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· 12 – 18 oct</a:t>
            </a:r>
            <a:endParaRPr lang="en-US" sz="30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 dot 1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lan dot 1 label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lan head 1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de aprendizaje</a:t>
            </a:r>
            <a:endParaRPr lang="en-US" sz="1700" dirty="0"/>
          </a:p>
        </p:txBody>
      </p:sp>
      <p:sp>
        <p:nvSpPr>
          <p:cNvPr id="7" name="Plan body 1"/>
          <p:cNvSpPr txBox="1"/>
          <p:nvPr/>
        </p:nvSpPr>
        <p:spPr>
          <a:xfrm>
            <a:off x="685800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 cambios durante 5 días. Criterio de pausa: ~$120 de gasto sin lead calificado.</a:t>
            </a:r>
            <a:endParaRPr lang="en-US" sz="1300" dirty="0"/>
          </a:p>
        </p:txBody>
      </p:sp>
      <p:sp>
        <p:nvSpPr>
          <p:cNvPr id="8" name="Plan card 2"/>
          <p:cNvSpPr/>
          <p:nvPr/>
        </p:nvSpPr>
        <p:spPr>
          <a:xfrm>
            <a:off x="3264408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 dot 2"/>
          <p:cNvSpPr/>
          <p:nvPr/>
        </p:nvSpPr>
        <p:spPr>
          <a:xfrm>
            <a:off x="3493008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lan dot 2 label"/>
          <p:cNvSpPr txBox="1"/>
          <p:nvPr/>
        </p:nvSpPr>
        <p:spPr>
          <a:xfrm>
            <a:off x="349300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 head 2"/>
          <p:cNvSpPr txBox="1"/>
          <p:nvPr/>
        </p:nvSpPr>
        <p:spPr>
          <a:xfrm>
            <a:off x="3493008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 en GHL</a:t>
            </a:r>
            <a:endParaRPr lang="en-US" sz="1700" dirty="0"/>
          </a:p>
        </p:txBody>
      </p:sp>
      <p:sp>
        <p:nvSpPr>
          <p:cNvPr id="12" name="Plan body 2"/>
          <p:cNvSpPr txBox="1"/>
          <p:nvPr/>
        </p:nvSpPr>
        <p:spPr>
          <a:xfrm>
            <a:off x="3493008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Reporte diario de leads calificados vs. no calificados por anuncio.</a:t>
            </a:r>
            <a:endParaRPr lang="en-US" sz="1300" dirty="0"/>
          </a:p>
        </p:txBody>
      </p:sp>
      <p:sp>
        <p:nvSpPr>
          <p:cNvPr id="13" name="Plan card 3"/>
          <p:cNvSpPr/>
          <p:nvPr/>
        </p:nvSpPr>
        <p:spPr>
          <a:xfrm>
            <a:off x="6071616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 dot 3"/>
          <p:cNvSpPr/>
          <p:nvPr/>
        </p:nvSpPr>
        <p:spPr>
          <a:xfrm>
            <a:off x="6300216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n dot 3 label"/>
          <p:cNvSpPr txBox="1"/>
          <p:nvPr/>
        </p:nvSpPr>
        <p:spPr>
          <a:xfrm>
            <a:off x="630021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lan head 3"/>
          <p:cNvSpPr txBox="1"/>
          <p:nvPr/>
        </p:nvSpPr>
        <p:spPr>
          <a:xfrm>
            <a:off x="6300216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Nuevos creativos</a:t>
            </a:r>
            <a:endParaRPr lang="en-US" sz="1700" dirty="0"/>
          </a:p>
        </p:txBody>
      </p:sp>
      <p:sp>
        <p:nvSpPr>
          <p:cNvPr id="17" name="Plan body 3"/>
          <p:cNvSpPr txBox="1"/>
          <p:nvPr/>
        </p:nvSpPr>
        <p:spPr>
          <a:xfrm>
            <a:off x="6300216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Texto en imagen dirigido al comprador ("For Law Firm Owners"). V2: reemplazar "19 jobs" por "19 roles".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Decisiones requeridas</a:t>
            </a:r>
            <a:endParaRPr lang="en-US" sz="3000" dirty="0"/>
          </a:p>
        </p:txBody>
      </p:sp>
      <p:sp>
        <p:nvSpPr>
          <p:cNvPr id="3" name="Decision box 1"/>
          <p:cNvSpPr/>
          <p:nvPr/>
        </p:nvSpPr>
        <p:spPr>
          <a:xfrm>
            <a:off x="457200" y="1188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Decision head 1"/>
          <p:cNvSpPr txBox="1"/>
          <p:nvPr/>
        </p:nvSpPr>
        <p:spPr>
          <a:xfrm>
            <a:off x="1005840" y="1143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Atribución de 3 leads del 11 oct</a:t>
            </a:r>
            <a:endParaRPr lang="en-US" sz="1800" dirty="0"/>
          </a:p>
        </p:txBody>
      </p:sp>
      <p:sp>
        <p:nvSpPr>
          <p:cNvPr id="5" name="Decision body 1"/>
          <p:cNvSpPr txBox="1"/>
          <p:nvPr/>
        </p:nvSpPr>
        <p:spPr>
          <a:xfrm>
            <a:off x="1005840" y="1572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Confirmar si provienen de otro canal o de pruebas del formulario.</a:t>
            </a:r>
            <a:endParaRPr lang="en-US" sz="1400" dirty="0"/>
          </a:p>
        </p:txBody>
      </p:sp>
      <p:sp>
        <p:nvSpPr>
          <p:cNvPr id="6" name="Decision box 2"/>
          <p:cNvSpPr/>
          <p:nvPr/>
        </p:nvSpPr>
        <p:spPr>
          <a:xfrm>
            <a:off x="457200" y="2331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Decision head 2"/>
          <p:cNvSpPr txBox="1"/>
          <p:nvPr/>
        </p:nvSpPr>
        <p:spPr>
          <a:xfrm>
            <a:off x="10058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CPL calificado objetivo</a:t>
            </a:r>
            <a:endParaRPr lang="en-US" sz="1800" dirty="0"/>
          </a:p>
        </p:txBody>
      </p:sp>
      <p:sp>
        <p:nvSpPr>
          <p:cNvPr id="8" name="Decision body 2"/>
          <p:cNvSpPr txBox="1"/>
          <p:nvPr/>
        </p:nvSpPr>
        <p:spPr>
          <a:xfrm>
            <a:off x="1005840" y="2715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Definir el máximo aceptable. Determina los umbrales de escalado y pausa.</a:t>
            </a:r>
            <a:endParaRPr lang="en-US" sz="1400" dirty="0"/>
          </a:p>
        </p:txBody>
      </p:sp>
      <p:sp>
        <p:nvSpPr>
          <p:cNvPr id="9" name="Decision box 3"/>
          <p:cNvSpPr/>
          <p:nvPr/>
        </p:nvSpPr>
        <p:spPr>
          <a:xfrm>
            <a:off x="45720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Decision head 3"/>
          <p:cNvSpPr txBox="1"/>
          <p:nvPr/>
        </p:nvSpPr>
        <p:spPr>
          <a:xfrm>
            <a:off x="1005840" y="3429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Optimización por lead calificado</a:t>
            </a:r>
            <a:endParaRPr lang="en-US" sz="1800" dirty="0"/>
          </a:p>
        </p:txBody>
      </p:sp>
      <p:sp>
        <p:nvSpPr>
          <p:cNvPr id="11" name="Decision body 3"/>
          <p:cNvSpPr txBox="1"/>
          <p:nvPr/>
        </p:nvSpPr>
        <p:spPr>
          <a:xfrm>
            <a:off x="1005840" y="3858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el envío del evento Lead vía CAPI solo cuando la respuesta es "I want to hire.".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">
  <a:themeElements>
    <a:clrScheme name="Orchid">
      <a:dk1>
        <a:srgbClr val="1F1235"/>
      </a:dk1>
      <a:lt1>
        <a:srgbClr val="FFFFFF"/>
      </a:lt1>
      <a:dk2>
        <a:srgbClr val="3B1C78"/>
      </a:dk2>
      <a:lt2>
        <a:srgbClr val="F3F0FA"/>
      </a:lt2>
      <a:accent1>
        <a:srgbClr val="F6C343"/>
      </a:accent1>
      <a:accent2>
        <a:srgbClr val="3B1C78"/>
      </a:accent2>
      <a:accent3>
        <a:srgbClr val="8B6FD1"/>
      </a:accent3>
      <a:accent4>
        <a:srgbClr val="2E8B5E"/>
      </a:accent4>
      <a:accent5>
        <a:srgbClr val="C8463A"/>
      </a:accent5>
      <a:accent6>
        <a:srgbClr val="6B6680"/>
      </a:accent6>
      <a:hlink>
        <a:srgbClr val="3B1C78"/>
      </a:hlink>
      <a:folHlink>
        <a:srgbClr val="8B6FD1"/>
      </a:folHlink>
    </a:clrScheme>
    <a:fontScheme name="Orchi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Meta Ads Orchid – Del 29 sep al 11 oct</dc:title>
  <dc:subject>PptxGenJS Presentation</dc:subject>
  <dc:creator>Orchid</dc:creator>
  <cp:lastModifiedBy>Orchid</cp:lastModifiedBy>
  <cp:revision>1</cp:revision>
  <dcterms:created xsi:type="dcterms:W3CDTF">2026-10-12T14:00:25Z</dcterms:created>
  <dcterms:modified xsi:type="dcterms:W3CDTF">2026-10-12T14:00:25Z</dcterms:modified>
</cp:coreProperties>
</file>